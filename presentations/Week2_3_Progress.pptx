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44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4113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914400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&amp; Sequence Generation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LSTM-Based Anomaly Detection on Linux System Call Sequences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657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Emirhan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Müftüoğlu</a:t>
            </a:r>
            <a:br>
              <a:rPr lang="tr-TR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tr-TR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Muhammet İsmail Kurtuluş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11480" cy="4114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2788920"/>
            <a:ext cx="23774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017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3273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+ Clean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46704" y="3429000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57600" y="2788920"/>
            <a:ext cx="23774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3017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03320" y="3273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89904" y="3429000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00800" y="2788920"/>
            <a:ext cx="2377440" cy="1280160"/>
          </a:xfrm>
          <a:prstGeom prst="rect">
            <a:avLst/>
          </a:prstGeom>
          <a:solidFill>
            <a:srgbClr val="FECAC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017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3273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833104" y="3429000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44000" y="2788920"/>
            <a:ext cx="2377440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0" y="3017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89720" y="3273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11480" cy="4114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Parsing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10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Yapılanlar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164592" cy="1645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801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4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2743200"/>
            <a:ext cx="164592" cy="1645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670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</a:t>
            </a:r>
            <a:r>
              <a:rPr lang="tr-TR" sz="14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3611880"/>
            <a:ext cx="164592" cy="1645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538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4480560"/>
            <a:ext cx="164592" cy="1645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4074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</a:t>
            </a:r>
            <a:r>
              <a:rPr lang="tr-TR" sz="14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49799" y="3259836"/>
            <a:ext cx="266335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parsed_sample.csv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22960" y="5486400"/>
            <a:ext cx="108813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5577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14400" y="5852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LID-DS 2021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572000" y="5577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9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</a:t>
            </a:r>
            <a:r>
              <a:rPr lang="en-US" sz="9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</a:t>
            </a:r>
            <a:r>
              <a:rPr lang="tr-TR" sz="9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0" y="5852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CVE-2014-0160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8229600" y="5577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EDİLEN SATIR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5852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934</a:t>
            </a:r>
            <a:endParaRPr lang="en-US" sz="2000" dirty="0"/>
          </a:p>
        </p:txBody>
      </p:sp>
      <p:graphicFrame>
        <p:nvGraphicFramePr>
          <p:cNvPr id="34" name="Tablo 33">
            <a:extLst>
              <a:ext uri="{FF2B5EF4-FFF2-40B4-BE49-F238E27FC236}">
                <a16:creationId xmlns:a16="http://schemas.microsoft.com/office/drawing/2014/main" id="{82B8B686-7297-AFE3-28C9-BFCEFE0AB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884525"/>
              </p:ext>
            </p:extLst>
          </p:nvPr>
        </p:nvGraphicFramePr>
        <p:xfrm>
          <a:off x="4258813" y="3773254"/>
          <a:ext cx="7391397" cy="918694"/>
        </p:xfrm>
        <a:graphic>
          <a:graphicData uri="http://schemas.openxmlformats.org/drawingml/2006/table">
            <a:tbl>
              <a:tblPr/>
              <a:tblGrid>
                <a:gridCol w="602666">
                  <a:extLst>
                    <a:ext uri="{9D8B030D-6E8A-4147-A177-3AD203B41FA5}">
                      <a16:colId xmlns:a16="http://schemas.microsoft.com/office/drawing/2014/main" val="2255823425"/>
                    </a:ext>
                  </a:extLst>
                </a:gridCol>
                <a:gridCol w="427980">
                  <a:extLst>
                    <a:ext uri="{9D8B030D-6E8A-4147-A177-3AD203B41FA5}">
                      <a16:colId xmlns:a16="http://schemas.microsoft.com/office/drawing/2014/main" val="2262326792"/>
                    </a:ext>
                  </a:extLst>
                </a:gridCol>
                <a:gridCol w="558996">
                  <a:extLst>
                    <a:ext uri="{9D8B030D-6E8A-4147-A177-3AD203B41FA5}">
                      <a16:colId xmlns:a16="http://schemas.microsoft.com/office/drawing/2014/main" val="12287716"/>
                    </a:ext>
                  </a:extLst>
                </a:gridCol>
                <a:gridCol w="753333">
                  <a:extLst>
                    <a:ext uri="{9D8B030D-6E8A-4147-A177-3AD203B41FA5}">
                      <a16:colId xmlns:a16="http://schemas.microsoft.com/office/drawing/2014/main" val="1397786632"/>
                    </a:ext>
                  </a:extLst>
                </a:gridCol>
                <a:gridCol w="602666">
                  <a:extLst>
                    <a:ext uri="{9D8B030D-6E8A-4147-A177-3AD203B41FA5}">
                      <a16:colId xmlns:a16="http://schemas.microsoft.com/office/drawing/2014/main" val="3106608402"/>
                    </a:ext>
                  </a:extLst>
                </a:gridCol>
                <a:gridCol w="663807">
                  <a:extLst>
                    <a:ext uri="{9D8B030D-6E8A-4147-A177-3AD203B41FA5}">
                      <a16:colId xmlns:a16="http://schemas.microsoft.com/office/drawing/2014/main" val="631666704"/>
                    </a:ext>
                  </a:extLst>
                </a:gridCol>
                <a:gridCol w="524057">
                  <a:extLst>
                    <a:ext uri="{9D8B030D-6E8A-4147-A177-3AD203B41FA5}">
                      <a16:colId xmlns:a16="http://schemas.microsoft.com/office/drawing/2014/main" val="1937212511"/>
                    </a:ext>
                  </a:extLst>
                </a:gridCol>
                <a:gridCol w="393043">
                  <a:extLst>
                    <a:ext uri="{9D8B030D-6E8A-4147-A177-3AD203B41FA5}">
                      <a16:colId xmlns:a16="http://schemas.microsoft.com/office/drawing/2014/main" val="992678250"/>
                    </a:ext>
                  </a:extLst>
                </a:gridCol>
                <a:gridCol w="2864849">
                  <a:extLst>
                    <a:ext uri="{9D8B030D-6E8A-4147-A177-3AD203B41FA5}">
                      <a16:colId xmlns:a16="http://schemas.microsoft.com/office/drawing/2014/main" val="2617156316"/>
                    </a:ext>
                  </a:extLst>
                </a:gridCol>
              </a:tblGrid>
              <a:tr h="1034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timestamp</a:t>
                      </a:r>
                    </a:p>
                  </a:txBody>
                  <a:tcPr marL="9322" marR="9322" marT="9322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cpu_id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thread_id</a:t>
                      </a:r>
                      <a:endParaRPr lang="tr-TR" sz="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process_name</a:t>
                      </a:r>
                      <a:endParaRPr lang="tr-TR" sz="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process_id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syscall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direction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result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raw_line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446665"/>
                  </a:ext>
                </a:extLst>
              </a:tr>
              <a:tr h="1153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1,63154E+18</a:t>
                      </a:r>
                    </a:p>
                  </a:txBody>
                  <a:tcPr marL="9322" marR="9322" marT="9322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4191039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apache2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4191039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select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1631541197790099280 0 4191039 apache2 4191039 </a:t>
                      </a:r>
                      <a:r>
                        <a:rPr lang="tr-T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select</a:t>
                      </a:r>
                      <a:r>
                        <a:rPr lang="tr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&lt; </a:t>
                      </a:r>
                      <a:r>
                        <a:rPr lang="tr-T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</a:t>
                      </a:r>
                      <a:r>
                        <a:rPr lang="tr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=0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37063"/>
                  </a:ext>
                </a:extLst>
              </a:tr>
              <a:tr h="10341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1,63154E+18</a:t>
                      </a:r>
                    </a:p>
                  </a:txBody>
                  <a:tcPr marL="9322" marR="9322" marT="9322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4191039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apache2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4191039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wait4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1631541197790102618 0 4191039 apache2 4191039 wait4 &gt;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510802"/>
                  </a:ext>
                </a:extLst>
              </a:tr>
              <a:tr h="10341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1,63154E+18</a:t>
                      </a:r>
                    </a:p>
                  </a:txBody>
                  <a:tcPr marL="9322" marR="9322" marT="9322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4191039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apache2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4191039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wait4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1631541197790104483 0 4191039 apache2 4191039 wait4 &lt;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92944"/>
                  </a:ext>
                </a:extLst>
              </a:tr>
              <a:tr h="10341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1,63154E+18</a:t>
                      </a:r>
                    </a:p>
                  </a:txBody>
                  <a:tcPr marL="9322" marR="9322" marT="9322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4191039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apache2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4191039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select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1631541197790105172 0 4191039 apache2 4191039 select &gt;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742936"/>
                  </a:ext>
                </a:extLst>
              </a:tr>
              <a:tr h="1153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1,63154E+18</a:t>
                      </a:r>
                    </a:p>
                  </a:txBody>
                  <a:tcPr marL="9322" marR="9322" marT="9322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4191039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apache2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4191039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select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1631541198791238243 0 4191039 apache2 4191039 select &lt; res=0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943046"/>
                  </a:ext>
                </a:extLst>
              </a:tr>
              <a:tr h="10341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1,63154E+18</a:t>
                      </a:r>
                    </a:p>
                  </a:txBody>
                  <a:tcPr marL="9322" marR="9322" marT="9322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4191039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apache2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4191039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wait4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1631541198791243311 0 4191039 apache2 4191039 wait4 &gt;</a:t>
                      </a:r>
                    </a:p>
                  </a:txBody>
                  <a:tcPr marL="9322" marR="9322" marT="9322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256827"/>
                  </a:ext>
                </a:extLst>
              </a:tr>
            </a:tbl>
          </a:graphicData>
        </a:graphic>
      </p:graphicFrame>
      <p:pic>
        <p:nvPicPr>
          <p:cNvPr id="36" name="Resim 35">
            <a:extLst>
              <a:ext uri="{FF2B5EF4-FFF2-40B4-BE49-F238E27FC236}">
                <a16:creationId xmlns:a16="http://schemas.microsoft.com/office/drawing/2014/main" id="{B035EF6D-9CA5-261B-2EA1-0F634BDB1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637" y="1474625"/>
            <a:ext cx="4089595" cy="1651991"/>
          </a:xfrm>
          <a:prstGeom prst="rect">
            <a:avLst/>
          </a:prstGeom>
        </p:spPr>
      </p:pic>
      <p:sp>
        <p:nvSpPr>
          <p:cNvPr id="37" name="Text 17">
            <a:extLst>
              <a:ext uri="{FF2B5EF4-FFF2-40B4-BE49-F238E27FC236}">
                <a16:creationId xmlns:a16="http://schemas.microsoft.com/office/drawing/2014/main" id="{78233058-DF48-BF3F-EEF8-44257B3B45FD}"/>
              </a:ext>
            </a:extLst>
          </p:cNvPr>
          <p:cNvSpPr/>
          <p:nvPr/>
        </p:nvSpPr>
        <p:spPr>
          <a:xfrm>
            <a:off x="6549798" y="1122125"/>
            <a:ext cx="24174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1000" b="1" kern="0" spc="300" dirty="0" err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r>
              <a:rPr lang="tr-TR" sz="10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</a:t>
            </a:r>
            <a:r>
              <a:rPr lang="tr-TR" sz="1000" b="1" kern="0" spc="300" dirty="0" err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r>
              <a:rPr lang="tr-TR" sz="10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dosyası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11480" cy="4114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Cleaning</a:t>
            </a:r>
            <a:r>
              <a:rPr lang="tr-TR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</a:t>
            </a: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/>
              <a:t>Feature extraction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352044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27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9202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Type conversion</a:t>
            </a:r>
          </a:p>
        </p:txBody>
      </p:sp>
      <p:sp>
        <p:nvSpPr>
          <p:cNvPr id="10" name="Text 8"/>
          <p:cNvSpPr/>
          <p:nvPr/>
        </p:nvSpPr>
        <p:spPr>
          <a:xfrm>
            <a:off x="1051560" y="2331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/>
              <a:t>timestamp, </a:t>
            </a:r>
            <a:r>
              <a:rPr lang="en-US" sz="1100" dirty="0" err="1"/>
              <a:t>thread_id</a:t>
            </a:r>
            <a:r>
              <a:rPr lang="en-US" sz="1100" dirty="0"/>
              <a:t>, </a:t>
            </a:r>
            <a:r>
              <a:rPr lang="en-US" sz="1100" dirty="0" err="1"/>
              <a:t>process_id</a:t>
            </a:r>
            <a:r>
              <a:rPr lang="en-US" sz="1100" dirty="0"/>
              <a:t> </a:t>
            </a:r>
            <a:r>
              <a:rPr lang="en-US" sz="1100" dirty="0" err="1"/>
              <a:t>ve</a:t>
            </a:r>
            <a:r>
              <a:rPr lang="en-US" sz="1100" dirty="0"/>
              <a:t> result </a:t>
            </a:r>
            <a:r>
              <a:rPr lang="en-US" sz="1100" dirty="0" err="1"/>
              <a:t>sayısal</a:t>
            </a:r>
            <a:r>
              <a:rPr lang="en-US" sz="1100" dirty="0"/>
              <a:t> </a:t>
            </a:r>
            <a:r>
              <a:rPr lang="en-US" sz="1100" dirty="0" err="1"/>
              <a:t>tipe</a:t>
            </a:r>
            <a:r>
              <a:rPr lang="en-US" sz="1100" dirty="0"/>
              <a:t> </a:t>
            </a:r>
            <a:r>
              <a:rPr lang="en-US" sz="1100" dirty="0" err="1"/>
              <a:t>dönüştürüldü</a:t>
            </a:r>
            <a:r>
              <a:rPr lang="en-US" sz="1100" dirty="0"/>
              <a:t>.</a:t>
            </a:r>
          </a:p>
        </p:txBody>
      </p:sp>
      <p:sp>
        <p:nvSpPr>
          <p:cNvPr id="11" name="Shape 9"/>
          <p:cNvSpPr/>
          <p:nvPr/>
        </p:nvSpPr>
        <p:spPr>
          <a:xfrm>
            <a:off x="4526280" y="1463040"/>
            <a:ext cx="352044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627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9202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Filter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2331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geçerli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'&lt;' ve '&gt;' satırları tutuldu.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463040"/>
            <a:ext cx="352044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1627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58200" y="19202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Feature extraction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58200" y="2331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/>
              <a:t>result </a:t>
            </a:r>
            <a:r>
              <a:rPr lang="en-US" sz="1100" dirty="0" err="1"/>
              <a:t>bilgisinden</a:t>
            </a:r>
            <a:r>
              <a:rPr lang="en-US" sz="1100" dirty="0"/>
              <a:t> </a:t>
            </a:r>
            <a:r>
              <a:rPr lang="en-US" sz="1100" dirty="0" err="1"/>
              <a:t>return_status</a:t>
            </a:r>
            <a:r>
              <a:rPr lang="en-US" sz="1100" dirty="0"/>
              <a:t> </a:t>
            </a:r>
            <a:r>
              <a:rPr lang="tr-TR" sz="1100" dirty="0" err="1"/>
              <a:t>feature</a:t>
            </a:r>
            <a:r>
              <a:rPr lang="en-US" sz="1100" dirty="0"/>
              <a:t> </a:t>
            </a:r>
            <a:r>
              <a:rPr lang="en-US" sz="1100" dirty="0" err="1"/>
              <a:t>üretildi</a:t>
            </a:r>
            <a:r>
              <a:rPr lang="en-US" sz="1100" dirty="0"/>
              <a:t>.</a:t>
            </a:r>
          </a:p>
        </p:txBody>
      </p:sp>
      <p:sp>
        <p:nvSpPr>
          <p:cNvPr id="21" name="Text 19"/>
          <p:cNvSpPr/>
          <p:nvPr/>
        </p:nvSpPr>
        <p:spPr>
          <a:xfrm>
            <a:off x="822960" y="3017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/>
              <a:t>return_status</a:t>
            </a:r>
            <a:endParaRPr lang="en-US" sz="2000" b="1" dirty="0"/>
          </a:p>
        </p:txBody>
      </p:sp>
      <p:sp>
        <p:nvSpPr>
          <p:cNvPr id="45" name="Text 43"/>
          <p:cNvSpPr/>
          <p:nvPr/>
        </p:nvSpPr>
        <p:spPr>
          <a:xfrm>
            <a:off x="960120" y="5029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1100" b="1" kern="0" spc="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r>
              <a:rPr lang="en-US" sz="1100" b="1" kern="0" spc="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cleaned_sample.csv</a:t>
            </a:r>
            <a:endParaRPr lang="en-US" sz="1100" dirty="0"/>
          </a:p>
        </p:txBody>
      </p:sp>
      <p:sp>
        <p:nvSpPr>
          <p:cNvPr id="46" name="Shape 13">
            <a:extLst>
              <a:ext uri="{FF2B5EF4-FFF2-40B4-BE49-F238E27FC236}">
                <a16:creationId xmlns:a16="http://schemas.microsoft.com/office/drawing/2014/main" id="{0BECB3CE-1FD7-C70C-25A7-27872ACE4292}"/>
              </a:ext>
            </a:extLst>
          </p:cNvPr>
          <p:cNvSpPr/>
          <p:nvPr/>
        </p:nvSpPr>
        <p:spPr>
          <a:xfrm>
            <a:off x="1360459" y="3474720"/>
            <a:ext cx="2382050" cy="996697"/>
          </a:xfrm>
          <a:prstGeom prst="roundRect">
            <a:avLst>
              <a:gd name="adj" fmla="val 9091"/>
            </a:avLst>
          </a:prstGeom>
          <a:solidFill>
            <a:srgbClr val="1F4A3A"/>
          </a:solidFill>
          <a:ln w="12700">
            <a:solidFill>
              <a:srgbClr val="38BDF8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41EE404C-D39F-6BDA-5EB7-B94B0E68DB2D}"/>
              </a:ext>
            </a:extLst>
          </p:cNvPr>
          <p:cNvSpPr/>
          <p:nvPr/>
        </p:nvSpPr>
        <p:spPr>
          <a:xfrm>
            <a:off x="1451899" y="3593593"/>
            <a:ext cx="2170312" cy="779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result ≥ 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Success → 1</a:t>
            </a:r>
            <a:endParaRPr lang="en-US" sz="1300" dirty="0"/>
          </a:p>
        </p:txBody>
      </p:sp>
      <p:sp>
        <p:nvSpPr>
          <p:cNvPr id="48" name="Shape 15">
            <a:extLst>
              <a:ext uri="{FF2B5EF4-FFF2-40B4-BE49-F238E27FC236}">
                <a16:creationId xmlns:a16="http://schemas.microsoft.com/office/drawing/2014/main" id="{38124D54-1B9C-D6E7-F34B-313B03CE6041}"/>
              </a:ext>
            </a:extLst>
          </p:cNvPr>
          <p:cNvSpPr/>
          <p:nvPr/>
        </p:nvSpPr>
        <p:spPr>
          <a:xfrm>
            <a:off x="4846320" y="3474720"/>
            <a:ext cx="2382050" cy="996697"/>
          </a:xfrm>
          <a:prstGeom prst="roundRect">
            <a:avLst>
              <a:gd name="adj" fmla="val 9091"/>
            </a:avLst>
          </a:prstGeom>
          <a:solidFill>
            <a:srgbClr val="5A2B2B"/>
          </a:solidFill>
          <a:ln w="12700">
            <a:solidFill>
              <a:srgbClr val="38BDF8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204D70F7-4E3F-84E0-676E-539467659A61}"/>
              </a:ext>
            </a:extLst>
          </p:cNvPr>
          <p:cNvSpPr/>
          <p:nvPr/>
        </p:nvSpPr>
        <p:spPr>
          <a:xfrm>
            <a:off x="4937760" y="3593593"/>
            <a:ext cx="2170312" cy="779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result &lt; 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Fail → 0</a:t>
            </a:r>
            <a:endParaRPr lang="en-US" sz="1300" dirty="0"/>
          </a:p>
        </p:txBody>
      </p:sp>
      <p:sp>
        <p:nvSpPr>
          <p:cNvPr id="50" name="Shape 17">
            <a:extLst>
              <a:ext uri="{FF2B5EF4-FFF2-40B4-BE49-F238E27FC236}">
                <a16:creationId xmlns:a16="http://schemas.microsoft.com/office/drawing/2014/main" id="{871B9E1D-8AEC-86E1-FBB1-8A18D12838B8}"/>
              </a:ext>
            </a:extLst>
          </p:cNvPr>
          <p:cNvSpPr/>
          <p:nvPr/>
        </p:nvSpPr>
        <p:spPr>
          <a:xfrm>
            <a:off x="8332181" y="3474720"/>
            <a:ext cx="2382050" cy="996697"/>
          </a:xfrm>
          <a:prstGeom prst="roundRect">
            <a:avLst>
              <a:gd name="adj" fmla="val 9091"/>
            </a:avLst>
          </a:prstGeom>
          <a:solidFill>
            <a:srgbClr val="4B3B1D"/>
          </a:solidFill>
          <a:ln w="12700">
            <a:solidFill>
              <a:srgbClr val="38BDF8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8EC73EF1-D86C-CE59-5C16-ABDEB5827227}"/>
              </a:ext>
            </a:extLst>
          </p:cNvPr>
          <p:cNvSpPr/>
          <p:nvPr/>
        </p:nvSpPr>
        <p:spPr>
          <a:xfrm>
            <a:off x="8423621" y="3593593"/>
            <a:ext cx="2170312" cy="779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result yok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Unknown → -1</a:t>
            </a:r>
            <a:endParaRPr lang="en-US" sz="1300" dirty="0"/>
          </a:p>
        </p:txBody>
      </p:sp>
      <p:pic>
        <p:nvPicPr>
          <p:cNvPr id="53" name="Resim 52">
            <a:extLst>
              <a:ext uri="{FF2B5EF4-FFF2-40B4-BE49-F238E27FC236}">
                <a16:creationId xmlns:a16="http://schemas.microsoft.com/office/drawing/2014/main" id="{55C420D5-1E26-E769-C329-EFBBDA8B9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598279"/>
            <a:ext cx="2771802" cy="511910"/>
          </a:xfrm>
          <a:prstGeom prst="rect">
            <a:avLst/>
          </a:prstGeom>
        </p:spPr>
      </p:pic>
      <p:pic>
        <p:nvPicPr>
          <p:cNvPr id="59" name="Resim 58">
            <a:extLst>
              <a:ext uri="{FF2B5EF4-FFF2-40B4-BE49-F238E27FC236}">
                <a16:creationId xmlns:a16="http://schemas.microsoft.com/office/drawing/2014/main" id="{FD6D14DA-8ABD-2C73-CF0E-DB7BFAE41D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3870" y="5598279"/>
            <a:ext cx="6878010" cy="5620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11480" cy="4114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Sequence Generation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86716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Tarihe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göre sıralama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260604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261540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thread_id'ye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gruplama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338328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34364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tr-TR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r>
              <a:rPr lang="tr-TR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b="1" dirty="0" err="1"/>
              <a:t>syscall</a:t>
            </a:r>
            <a:r>
              <a:rPr lang="en-US" sz="1400" b="1" dirty="0"/>
              <a:t>, </a:t>
            </a:r>
            <a:r>
              <a:rPr lang="en-US" sz="1400" b="1" dirty="0" err="1"/>
              <a:t>process_name</a:t>
            </a:r>
            <a:r>
              <a:rPr lang="en-US" sz="1400" b="1" dirty="0"/>
              <a:t> </a:t>
            </a:r>
            <a:r>
              <a:rPr lang="en-US" sz="1400" b="1" dirty="0" err="1"/>
              <a:t>ve</a:t>
            </a:r>
            <a:r>
              <a:rPr lang="en-US" sz="1400" b="1" dirty="0"/>
              <a:t> </a:t>
            </a:r>
            <a:r>
              <a:rPr lang="en-US" sz="1400" b="1" dirty="0" err="1"/>
              <a:t>return_status</a:t>
            </a:r>
            <a:r>
              <a:rPr lang="tr-TR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b="1" dirty="0"/>
          </a:p>
        </p:txBody>
      </p:sp>
      <p:sp>
        <p:nvSpPr>
          <p:cNvPr id="22" name="Shape 20"/>
          <p:cNvSpPr/>
          <p:nvPr/>
        </p:nvSpPr>
        <p:spPr>
          <a:xfrm>
            <a:off x="868680" y="416052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206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(size=30, stride=1)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96000" y="1638971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1000" b="1" kern="0" spc="200" dirty="0" err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r>
              <a:rPr lang="tr-TR" sz="1000" b="1" kern="0" spc="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size = 30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22960" y="5257800"/>
            <a:ext cx="10881360" cy="1188719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280160" y="53492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934</a:t>
            </a:r>
            <a:endParaRPr lang="en-US" sz="4800" dirty="0"/>
          </a:p>
        </p:txBody>
      </p:sp>
      <p:sp>
        <p:nvSpPr>
          <p:cNvPr id="58" name="Text 56"/>
          <p:cNvSpPr/>
          <p:nvPr/>
        </p:nvSpPr>
        <p:spPr>
          <a:xfrm>
            <a:off x="1280160" y="6126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satır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977640" y="544068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60" name="Text 58"/>
          <p:cNvSpPr/>
          <p:nvPr/>
        </p:nvSpPr>
        <p:spPr>
          <a:xfrm>
            <a:off x="4800600" y="53492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800" dirty="0"/>
          </a:p>
        </p:txBody>
      </p:sp>
      <p:sp>
        <p:nvSpPr>
          <p:cNvPr id="61" name="Text 59"/>
          <p:cNvSpPr/>
          <p:nvPr/>
        </p:nvSpPr>
        <p:spPr>
          <a:xfrm>
            <a:off x="4800600" y="6126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498080" y="544068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63" name="Text 61"/>
          <p:cNvSpPr/>
          <p:nvPr/>
        </p:nvSpPr>
        <p:spPr>
          <a:xfrm>
            <a:off x="8321040" y="53492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760</a:t>
            </a:r>
            <a:endParaRPr lang="en-US" sz="4800" dirty="0"/>
          </a:p>
        </p:txBody>
      </p:sp>
      <p:sp>
        <p:nvSpPr>
          <p:cNvPr id="64" name="Text 62"/>
          <p:cNvSpPr/>
          <p:nvPr/>
        </p:nvSpPr>
        <p:spPr>
          <a:xfrm>
            <a:off x="8321040" y="6126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pencere</a:t>
            </a:r>
            <a:endParaRPr lang="en-US" sz="1100" dirty="0"/>
          </a:p>
        </p:txBody>
      </p:sp>
      <p:pic>
        <p:nvPicPr>
          <p:cNvPr id="67" name="Resim 66">
            <a:extLst>
              <a:ext uri="{FF2B5EF4-FFF2-40B4-BE49-F238E27FC236}">
                <a16:creationId xmlns:a16="http://schemas.microsoft.com/office/drawing/2014/main" id="{08586E9F-B180-D5F3-FE87-65FEC8565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861" y="2011261"/>
            <a:ext cx="7931459" cy="14570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11480" cy="4114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Sıradaki 3 </a:t>
            </a:r>
            <a:r>
              <a:rPr lang="en-US" sz="28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35204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051560" y="1755648"/>
            <a:ext cx="640080" cy="3840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75564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2402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115568" y="3227832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3200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dosyası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işleme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15568" y="3875135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383133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STIDE</a:t>
            </a:r>
            <a:r>
              <a:rPr lang="tr-TR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000" dirty="0"/>
              <a:t>/ n-gram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baseline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26280" y="1463040"/>
            <a:ext cx="35204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755648"/>
            <a:ext cx="640080" cy="38404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75564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22402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Modeli + Karşılaştırma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18888" y="3227832"/>
            <a:ext cx="118872" cy="11887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1546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r>
              <a:rPr lang="tr-TR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18888" y="3776472"/>
            <a:ext cx="118872" cy="11887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7033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üzerinden threshold belirleme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18888" y="4325112"/>
            <a:ext cx="118872" cy="11887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2519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seti üzerinde precision, recall, F1, FPR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18888" y="4873752"/>
            <a:ext cx="118872" cy="11887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48006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STIDE vs. LSTM karşılaştırma sonuçları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29600" y="1463040"/>
            <a:ext cx="35204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58200" y="1755648"/>
            <a:ext cx="6400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58200" y="175564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58200" y="22402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r-TR" sz="1600" b="1" dirty="0"/>
              <a:t>Evaluation, Report, Presentation</a:t>
            </a:r>
            <a:endParaRPr lang="en-US" sz="1500" b="1" dirty="0"/>
          </a:p>
        </p:txBody>
      </p:sp>
      <p:sp>
        <p:nvSpPr>
          <p:cNvPr id="37" name="Shape 35"/>
          <p:cNvSpPr/>
          <p:nvPr/>
        </p:nvSpPr>
        <p:spPr>
          <a:xfrm>
            <a:off x="8522208" y="3227832"/>
            <a:ext cx="118872" cy="11887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32520" y="3200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feature'ların katkısı (</a:t>
            </a:r>
            <a:r>
              <a:rPr lang="en-US" sz="10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syscall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syscall+context)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522208" y="3776472"/>
            <a:ext cx="118872" cy="11887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32520" y="377151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522208" y="4325112"/>
            <a:ext cx="118872" cy="11887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32520" y="431139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r-TR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raporu</a:t>
            </a:r>
            <a:endParaRPr lang="en-US" sz="1000" dirty="0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ECCAA446-723B-27A5-9915-1AA67B3D4F83}"/>
              </a:ext>
            </a:extLst>
          </p:cNvPr>
          <p:cNvSpPr/>
          <p:nvPr/>
        </p:nvSpPr>
        <p:spPr>
          <a:xfrm>
            <a:off x="1115568" y="4503420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141B9DB0-D47A-5484-47BE-8959C9D80BB5}"/>
              </a:ext>
            </a:extLst>
          </p:cNvPr>
          <p:cNvSpPr/>
          <p:nvPr/>
        </p:nvSpPr>
        <p:spPr>
          <a:xfrm>
            <a:off x="1371600" y="450399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r-TR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Senaryoları kesinleştirmek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914400" y="2194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</a:t>
            </a:r>
            <a:endParaRPr lang="en-US" sz="8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392</Words>
  <Application>Microsoft Office PowerPoint</Application>
  <PresentationFormat>Geniş ekran</PresentationFormat>
  <Paragraphs>152</Paragraphs>
  <Slides>7</Slides>
  <Notes>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2-3 İlerleme Sunumu</dc:title>
  <dc:subject>PptxGenJS Presentation</dc:subject>
  <dc:creator>Emirhan Müftüoğlu</dc:creator>
  <cp:lastModifiedBy>Emirhan MÜFTÜOĞLU</cp:lastModifiedBy>
  <cp:revision>38</cp:revision>
  <dcterms:created xsi:type="dcterms:W3CDTF">2026-05-01T12:57:48Z</dcterms:created>
  <dcterms:modified xsi:type="dcterms:W3CDTF">2026-05-02T06:31:12Z</dcterms:modified>
</cp:coreProperties>
</file>