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4" r:id="rId11"/>
    <p:sldId id="265" r:id="rId12"/>
    <p:sldId id="266" r:id="rId13"/>
    <p:sldId id="267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6" y="1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2D3F55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D3F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A31-4792-A8A9-CCFF3A6A90C2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A31-4792-A8A9-CCFF3A6A90C2}"/>
              </c:ext>
            </c:extLst>
          </c:dPt>
          <c:dPt>
            <c:idx val="2"/>
            <c:invertIfNegative val="0"/>
            <c:bubble3D val="0"/>
            <c:spPr>
              <a:solidFill>
                <a:srgbClr val="3D5A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A31-4792-A8A9-CCFF3A6A90C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STIDE</c:v>
                </c:pt>
                <c:pt idx="1">
                  <c:v>LSTM Syscall</c:v>
                </c:pt>
                <c:pt idx="2">
                  <c:v>LSTM Context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0.99470000000000003</c:v>
                </c:pt>
                <c:pt idx="1">
                  <c:v>0.99619999999999997</c:v>
                </c:pt>
                <c:pt idx="2">
                  <c:v>0.99150000000000005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31-4792-A8A9-CCFF3A6A90C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8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Normal Trace</c:v>
                </c:pt>
              </c:strCache>
            </c:strRef>
          </c:tx>
          <c:spPr>
            <a:solidFill>
              <a:srgbClr val="2D3F55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0.0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1.0</c:v>
                </c:pt>
                <c:pt idx="11">
                  <c:v>1.5</c:v>
                </c:pt>
                <c:pt idx="12">
                  <c:v>2.0+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18</c:v>
                </c:pt>
                <c:pt idx="1">
                  <c:v>52</c:v>
                </c:pt>
                <c:pt idx="2">
                  <c:v>88</c:v>
                </c:pt>
                <c:pt idx="3">
                  <c:v>155</c:v>
                </c:pt>
                <c:pt idx="4">
                  <c:v>205</c:v>
                </c:pt>
                <c:pt idx="5">
                  <c:v>148</c:v>
                </c:pt>
                <c:pt idx="6">
                  <c:v>62</c:v>
                </c:pt>
                <c:pt idx="7">
                  <c:v>18</c:v>
                </c:pt>
                <c:pt idx="8">
                  <c:v>5</c:v>
                </c:pt>
                <c:pt idx="9">
                  <c:v>2</c:v>
                </c:pt>
                <c:pt idx="10">
                  <c:v>3</c:v>
                </c:pt>
                <c:pt idx="11">
                  <c:v>4</c:v>
                </c:pt>
                <c:pt idx="1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CA-4D4A-A054-F3BEF8B130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Anomali Trace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0.0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1.0</c:v>
                </c:pt>
                <c:pt idx="11">
                  <c:v>1.5</c:v>
                </c:pt>
                <c:pt idx="12">
                  <c:v>2.0+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13</c:v>
                </c:pt>
                <c:pt idx="9">
                  <c:v>18</c:v>
                </c:pt>
                <c:pt idx="10">
                  <c:v>22</c:v>
                </c:pt>
                <c:pt idx="11">
                  <c:v>35</c:v>
                </c:pt>
                <c:pt idx="12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4CA-4D4A-A054-F3BEF8B130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NLL</c:v>
                </c:pt>
              </c:strCache>
            </c:strRef>
          </c:tx>
          <c:spPr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★24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0.12</c:v>
                </c:pt>
                <c:pt idx="1">
                  <c:v>0.14000000000000001</c:v>
                </c:pt>
                <c:pt idx="2">
                  <c:v>0.11</c:v>
                </c:pt>
                <c:pt idx="3">
                  <c:v>0.13</c:v>
                </c:pt>
                <c:pt idx="4">
                  <c:v>0.12</c:v>
                </c:pt>
                <c:pt idx="5">
                  <c:v>0.14000000000000001</c:v>
                </c:pt>
                <c:pt idx="6">
                  <c:v>0.13</c:v>
                </c:pt>
                <c:pt idx="7">
                  <c:v>0.11</c:v>
                </c:pt>
                <c:pt idx="8">
                  <c:v>0.15</c:v>
                </c:pt>
                <c:pt idx="9">
                  <c:v>0.12</c:v>
                </c:pt>
                <c:pt idx="10">
                  <c:v>0.13</c:v>
                </c:pt>
                <c:pt idx="11">
                  <c:v>0.11</c:v>
                </c:pt>
                <c:pt idx="12">
                  <c:v>0.14000000000000001</c:v>
                </c:pt>
                <c:pt idx="13">
                  <c:v>0.12</c:v>
                </c:pt>
                <c:pt idx="14">
                  <c:v>0.13</c:v>
                </c:pt>
                <c:pt idx="15">
                  <c:v>0.14000000000000001</c:v>
                </c:pt>
                <c:pt idx="16">
                  <c:v>0.12</c:v>
                </c:pt>
                <c:pt idx="17">
                  <c:v>0.11</c:v>
                </c:pt>
                <c:pt idx="18">
                  <c:v>0.13</c:v>
                </c:pt>
                <c:pt idx="19">
                  <c:v>0.12</c:v>
                </c:pt>
                <c:pt idx="20">
                  <c:v>0.13</c:v>
                </c:pt>
                <c:pt idx="21">
                  <c:v>0.14000000000000001</c:v>
                </c:pt>
                <c:pt idx="22">
                  <c:v>0.38</c:v>
                </c:pt>
                <c:pt idx="23">
                  <c:v>0.85</c:v>
                </c:pt>
                <c:pt idx="24">
                  <c:v>3.82</c:v>
                </c:pt>
                <c:pt idx="25">
                  <c:v>4.21</c:v>
                </c:pt>
                <c:pt idx="26">
                  <c:v>3.55</c:v>
                </c:pt>
                <c:pt idx="27">
                  <c:v>2.1</c:v>
                </c:pt>
                <c:pt idx="28">
                  <c:v>1.35</c:v>
                </c:pt>
                <c:pt idx="29">
                  <c:v>0.72</c:v>
                </c:pt>
                <c:pt idx="30">
                  <c:v>0.42</c:v>
                </c:pt>
                <c:pt idx="31">
                  <c:v>0.18</c:v>
                </c:pt>
                <c:pt idx="32">
                  <c:v>0.13</c:v>
                </c:pt>
                <c:pt idx="33">
                  <c:v>0.12</c:v>
                </c:pt>
                <c:pt idx="34">
                  <c:v>0.14000000000000001</c:v>
                </c:pt>
                <c:pt idx="35">
                  <c:v>0.13</c:v>
                </c:pt>
                <c:pt idx="36">
                  <c:v>0.11</c:v>
                </c:pt>
                <c:pt idx="37">
                  <c:v>0.12</c:v>
                </c:pt>
                <c:pt idx="38">
                  <c:v>0.14000000000000001</c:v>
                </c:pt>
                <c:pt idx="39">
                  <c:v>0.13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61A-4829-B774-FAA82DC0F7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7700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48640" y="1097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BİTİRME PROJESİ  ·  BİLGİSAYAR MÜHENDİSLİĞİ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System Call Sequence'leri Üzerinde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Tabanlı Anomali Tespiti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LID-DS 2021 üzerinde STIDE ve LSTM tabanlı modellerin trace-level karşılaştırması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9776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Emirhan Müftüoğlu</a:t>
            </a:r>
            <a:endParaRPr lang="en-US" sz="16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200722102</a:t>
            </a:r>
            <a:endParaRPr lang="en-US" sz="16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Muhammet İsmail Kurtuluş</a:t>
            </a:r>
            <a:endParaRPr lang="en-US" sz="16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210901045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589520" y="39776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DANIŞMAN</a:t>
            </a:r>
            <a:endParaRPr lang="en-US" sz="10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Sedat Akleylek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621792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Mühendislik ve Doğa Bilimleri Fakültesi  ·  Bilgisayar Mühendisliği Bölümü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VE MOTİVASYON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Linux Syscall Anomali Tespiti?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99032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990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70432" y="1325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Saldırılar runtime'da görünür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70432" y="1719072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Komut seviyesinde değil, process davranışında izlenebilir. Zararlı process'ler kernel çağrılarından kaçınamaz.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770632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770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70432" y="2697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5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</a:t>
            </a:r>
            <a:r>
              <a:rPr lang="en-US" sz="15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tabanlı tespit yetersiz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70432" y="3090672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</a:t>
            </a:r>
            <a:r>
              <a:rPr lang="tr-TR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tabanlı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sistemler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bilinmeyen veya varyant saldırıları yakalayamaz. Yeni saldırı tiplerini öğrenemiyor.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142232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1422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0432" y="4069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call'lar doğrudan sinyal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70432" y="4462272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process kernel ile yalnızca syscall'lar üzerinden iletişim kurar — normal davranışın parmak izi buradadır.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06640" y="1325880"/>
            <a:ext cx="4206240" cy="621792"/>
          </a:xfrm>
          <a:prstGeom prst="rect">
            <a:avLst/>
          </a:prstGeom>
          <a:solidFill>
            <a:srgbClr val="3D5A7A"/>
          </a:solidFill>
          <a:ln w="12700">
            <a:solidFill>
              <a:srgbClr val="3D5A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3258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518904" y="1947672"/>
            <a:ext cx="0" cy="36576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06640" y="2313432"/>
            <a:ext cx="4206240" cy="621792"/>
          </a:xfrm>
          <a:prstGeom prst="rect">
            <a:avLst/>
          </a:prstGeom>
          <a:solidFill>
            <a:srgbClr val="2D3F55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231343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518904" y="2935224"/>
            <a:ext cx="0" cy="36576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406640" y="3300984"/>
            <a:ext cx="420624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330098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Calls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518904" y="3922776"/>
            <a:ext cx="0" cy="36576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06640" y="4288536"/>
            <a:ext cx="4206240" cy="6217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428853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Tespiti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57200" y="5715000"/>
            <a:ext cx="11247120" cy="86868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7150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 Sorusu:  </a:t>
            </a: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syscall örüntüleri öğrenilerek Linux process anomalileri güvenilir biçimde tespit edilebilir mi?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KAPSAM VE VERİ SETİ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 Kapsamı ve Veri Seti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1298448"/>
            <a:ext cx="356616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4538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Seti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3232" y="1755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LID-DS 2021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22311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Intrusion Detection Dataset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298448"/>
            <a:ext cx="356616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4538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Senaryo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1755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PHP_CWE-434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22311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Dosya yükleme saldırısı (file upload)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65008" y="1298448"/>
            <a:ext cx="356616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14538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 Tipi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47888" y="1755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Senaryo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47888" y="22311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Derinlikli case study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0352" y="2898648"/>
            <a:ext cx="356616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054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" y="33558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Normal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3232" y="38313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detection paradigması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0" y="2898648"/>
            <a:ext cx="356616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054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0560" y="33558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Trace-Level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480560" y="38313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top-10% mean pooling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65008" y="2898648"/>
            <a:ext cx="3566160" cy="1371600"/>
          </a:xfrm>
          <a:prstGeom prst="rect">
            <a:avLst/>
          </a:prstGeom>
          <a:solidFill>
            <a:srgbClr val="CCFBF1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47888" y="3054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Sızıntısı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47888" y="33558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= 0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47888" y="38313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Train/val/test trace'leri doğrulandı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468112"/>
            <a:ext cx="11247120" cy="1115568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51383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548640" y="60899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Trace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61488" y="551383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1.86M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2761488" y="60899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Pencere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74336" y="551383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4974336" y="60899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Trace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187184" y="551383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876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7187184" y="60899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Trace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400032" y="551383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9400032" y="60899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Trace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METODOLOJİ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Trace'ten Trace-Level Karara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4068" y="1508760"/>
            <a:ext cx="1124712" cy="804672"/>
          </a:xfrm>
          <a:prstGeom prst="rect">
            <a:avLst/>
          </a:prstGeom>
          <a:solidFill>
            <a:srgbClr val="3D5A7A"/>
          </a:solidFill>
          <a:ln w="12700">
            <a:solidFill>
              <a:srgbClr val="3D5A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0644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68780" y="1911096"/>
            <a:ext cx="11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87652" y="1508760"/>
            <a:ext cx="1124712" cy="804672"/>
          </a:xfrm>
          <a:prstGeom prst="rect">
            <a:avLst/>
          </a:prstGeom>
          <a:solidFill>
            <a:srgbClr val="2D3F55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4228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912364" y="1911096"/>
            <a:ext cx="11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31236" y="1508760"/>
            <a:ext cx="1124712" cy="804672"/>
          </a:xfrm>
          <a:prstGeom prst="rect">
            <a:avLst/>
          </a:prstGeom>
          <a:solidFill>
            <a:srgbClr val="2D3F55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7812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55948" y="1911096"/>
            <a:ext cx="11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74820" y="1508760"/>
            <a:ext cx="1124712" cy="804672"/>
          </a:xfrm>
          <a:prstGeom prst="rect">
            <a:avLst/>
          </a:prstGeom>
          <a:solidFill>
            <a:srgbClr val="2D3F55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11396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Gruplama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9532" y="1911096"/>
            <a:ext cx="11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518404" y="1508760"/>
            <a:ext cx="1124712" cy="804672"/>
          </a:xfrm>
          <a:prstGeom prst="rect">
            <a:avLst/>
          </a:prstGeom>
          <a:solidFill>
            <a:srgbClr val="3D5A7A"/>
          </a:solidFill>
          <a:ln w="12700">
            <a:solidFill>
              <a:srgbClr val="3D5A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54980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43116" y="1911096"/>
            <a:ext cx="11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761988" y="1508760"/>
            <a:ext cx="1124712" cy="804672"/>
          </a:xfrm>
          <a:prstGeom prst="rect">
            <a:avLst/>
          </a:prstGeom>
          <a:solidFill>
            <a:srgbClr val="3D5A7A"/>
          </a:solidFill>
          <a:ln w="12700">
            <a:solidFill>
              <a:srgbClr val="3D5A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98564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886700" y="1911096"/>
            <a:ext cx="11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005572" y="1508760"/>
            <a:ext cx="112471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2148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130284" y="1911096"/>
            <a:ext cx="11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249156" y="1508760"/>
            <a:ext cx="112471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5732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Top-10%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0373868" y="1911096"/>
            <a:ext cx="11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492740" y="1508760"/>
            <a:ext cx="1124712" cy="80467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29316" y="1545336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2514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Parametreler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size: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331720" y="2907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06240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Stride: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80760" y="2907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Gruplama: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829800" y="2907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bazlı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6576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Etiketleme: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3336857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Sıkı + boundary discard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20624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Eğitim: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33101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normal trace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5528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829800" y="33101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Validation-normal q95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2440" y="4425696"/>
            <a:ext cx="11247120" cy="923544"/>
          </a:xfrm>
          <a:prstGeom prst="rect">
            <a:avLst/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9516" y="4608575"/>
            <a:ext cx="10881360" cy="520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400" dirty="0" err="1"/>
              <a:t>Trace-level</a:t>
            </a:r>
            <a:r>
              <a:rPr lang="tr-TR" sz="1400" dirty="0"/>
              <a:t> top-10% </a:t>
            </a:r>
            <a:r>
              <a:rPr lang="tr-TR" sz="1400" dirty="0" err="1"/>
              <a:t>pooling</a:t>
            </a:r>
            <a:r>
              <a:rPr lang="tr-TR" sz="1400" dirty="0"/>
              <a:t>, </a:t>
            </a:r>
            <a:r>
              <a:rPr lang="tr-TR" sz="1400" dirty="0" err="1"/>
              <a:t>raw</a:t>
            </a:r>
            <a:r>
              <a:rPr lang="tr-TR" sz="1400" dirty="0"/>
              <a:t> </a:t>
            </a:r>
            <a:r>
              <a:rPr lang="tr-TR" sz="1400" dirty="0" err="1"/>
              <a:t>window-level</a:t>
            </a:r>
            <a:r>
              <a:rPr lang="tr-TR" sz="1400" dirty="0"/>
              <a:t> </a:t>
            </a:r>
            <a:r>
              <a:rPr lang="tr-TR" sz="1400" dirty="0" err="1"/>
              <a:t>evaluationa</a:t>
            </a:r>
            <a:r>
              <a:rPr lang="tr-TR" sz="1400" dirty="0"/>
              <a:t> göre performansı belirgin biçimde iyileştirdi.</a:t>
            </a:r>
            <a:br>
              <a:rPr lang="tr-TR" sz="1400" dirty="0"/>
            </a:br>
            <a:r>
              <a:rPr lang="tr-TR" sz="1400" dirty="0"/>
              <a:t>Bu bulgu, kararın </a:t>
            </a:r>
            <a:r>
              <a:rPr lang="tr-TR" sz="1400" dirty="0" err="1"/>
              <a:t>trace</a:t>
            </a:r>
            <a:r>
              <a:rPr lang="tr-TR" sz="1400" dirty="0"/>
              <a:t> seviyesinde verilmesinin metodolojik olarak daha uygun olduğunu gösterdi.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Karşılaştırılan 3 Model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38912" y="1261872"/>
            <a:ext cx="3566160" cy="4663440"/>
          </a:xfrm>
          <a:prstGeom prst="rect">
            <a:avLst/>
          </a:prstGeom>
          <a:solidFill>
            <a:srgbClr val="F8FAFC"/>
          </a:solidFill>
          <a:ln w="25400">
            <a:solidFill>
              <a:srgbClr val="2D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8912" y="1261872"/>
            <a:ext cx="3566160" cy="1097280"/>
          </a:xfrm>
          <a:prstGeom prst="rect">
            <a:avLst/>
          </a:prstGeom>
          <a:solidFill>
            <a:srgbClr val="2D3F55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3258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737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STIDE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21792" y="248716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D3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Klasik Baseline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2907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 6-gram hafıza tabanlı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" y="34198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trace'lerden n-gram sözlüğü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1792" y="3931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 oranı → anomali skoru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" y="44439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1999'dan kullanılan klasik HIDS yöntemi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261872"/>
            <a:ext cx="3566160" cy="4663440"/>
          </a:xfrm>
          <a:prstGeom prst="rect">
            <a:avLst/>
          </a:prstGeom>
          <a:solidFill>
            <a:srgbClr val="F8FAFC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1261872"/>
            <a:ext cx="3566160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13258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389120" y="1737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Syscall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480560" y="248716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Model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2907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syscall ID'leri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34198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Next-token prediction eğitimi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0560" y="3931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skoru: pencere NLL ortalaması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4439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Embedding(64) → LSTM(128) → Linear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56448" y="1261872"/>
            <a:ext cx="3566160" cy="4663440"/>
          </a:xfrm>
          <a:prstGeom prst="rect">
            <a:avLst/>
          </a:prstGeom>
          <a:solidFill>
            <a:srgbClr val="F8FAFC"/>
          </a:solidFill>
          <a:ln w="25400">
            <a:solidFill>
              <a:srgbClr val="3D5A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56448" y="1261872"/>
            <a:ext cx="3566160" cy="1097280"/>
          </a:xfrm>
          <a:prstGeom prst="rect">
            <a:avLst/>
          </a:prstGeom>
          <a:solidFill>
            <a:srgbClr val="3D5A7A"/>
          </a:solidFill>
          <a:ln w="12700">
            <a:solidFill>
              <a:srgbClr val="3D5A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39328" y="13258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247888" y="1737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Context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339328" y="248716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Model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39328" y="2907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 + process_name + return_status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39328" y="34198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Kombine token encoding (vocab=134)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39328" y="3931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LSTM mimarisi, daha zengin girdi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39328" y="44439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katkısını ölçen ablation bileşeni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modeller: aynı trace-level top-10% pooling  ·  aynı validation-normal q95 threshold  ·  aynı test seti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SONUÇLAR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Validation-Normal q95 Threshold ile Ana Sonuçlar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0698480" cy="2048256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E2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D3F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Syscall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 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0.9962 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E2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Context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D3F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91440" marB="9144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4930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AUC-ROC threshold'dan bağımsız metrik  ·  0.50 = rastgele  ·  1.00 = mükemmel ayrım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" y="3858768"/>
            <a:ext cx="3611880" cy="1463040"/>
          </a:xfrm>
          <a:prstGeom prst="rect">
            <a:avLst/>
          </a:prstGeom>
          <a:solidFill>
            <a:srgbClr val="F8FAFC"/>
          </a:solidFill>
          <a:ln w="25400">
            <a:solidFill>
              <a:srgbClr val="2D3F55"/>
            </a:solidFill>
            <a:prstDash val="solid"/>
          </a:ln>
        </p:spPr>
      </p:sp>
      <p:sp>
        <p:nvSpPr>
          <p:cNvPr id="4" name="Shape 4"/>
          <p:cNvSpPr/>
          <p:nvPr/>
        </p:nvSpPr>
        <p:spPr>
          <a:xfrm>
            <a:off x="457200" y="3858768"/>
            <a:ext cx="3611880" cy="420624"/>
          </a:xfrm>
          <a:prstGeom prst="rect">
            <a:avLst/>
          </a:prstGeom>
          <a:solidFill>
            <a:srgbClr val="2D3F55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858768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STIDE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436168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baseline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0.889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51960" y="3858768"/>
            <a:ext cx="3611880" cy="1463040"/>
          </a:xfrm>
          <a:prstGeom prst="rect">
            <a:avLst/>
          </a:prstGeom>
          <a:solidFill>
            <a:srgbClr val="F8FAFC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51960" y="3858768"/>
            <a:ext cx="3611880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3858768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Syscall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343400" y="436168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dengeli model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0.943  ·  FPR = 0.008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046720" y="3858768"/>
            <a:ext cx="3611880" cy="1463040"/>
          </a:xfrm>
          <a:prstGeom prst="rect">
            <a:avLst/>
          </a:prstGeom>
          <a:solidFill>
            <a:srgbClr val="F8FAFC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46720" y="3858768"/>
            <a:ext cx="3611880" cy="42062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3858768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Context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38160" y="436168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recall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1.000  ·  FN = 0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57200" y="5504688"/>
            <a:ext cx="11247120" cy="749808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504688"/>
            <a:ext cx="10881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Model: LSTM Syscall — en dengeli F1/FPR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DUYARLILIK ANALİZİ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Sağlamlığı ve AUC Karşılaştırması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87680" y="1687068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Threshold Stratejilerinde Sonuçlar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102106"/>
              </p:ext>
            </p:extLst>
          </p:nvPr>
        </p:nvGraphicFramePr>
        <p:xfrm>
          <a:off x="457200" y="2514600"/>
          <a:ext cx="6858000" cy="18288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q95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q90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q95 FPR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q90 FPR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Syscall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Context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4632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q90: daha agresif (↑ recall, ↑ FPR)   ·   q95: seçilen ana çalışma noktası (↑ precision, ↓ FPR)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772400" y="1536192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(Threshold'dan Bağımsız)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343657950"/>
              </p:ext>
            </p:extLst>
          </p:nvPr>
        </p:nvGraphicFramePr>
        <p:xfrm>
          <a:off x="7802880" y="2121408"/>
          <a:ext cx="39319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ANALİZİ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ve Hata Profili  (q95 Threshold)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5943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Syscall — Confusion Matrix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25880" y="1627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Tahmin: Normal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703320" y="1627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Tahmin: Anomali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325880" y="1965960"/>
            <a:ext cx="2194560" cy="1554480"/>
          </a:xfrm>
          <a:prstGeom prst="rect">
            <a:avLst/>
          </a:prstGeom>
          <a:solidFill>
            <a:srgbClr val="10B981">
              <a:alpha val="72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0574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2423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756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Normal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03320" y="1965960"/>
            <a:ext cx="2194560" cy="1554480"/>
          </a:xfrm>
          <a:prstGeom prst="rect">
            <a:avLst/>
          </a:prstGeom>
          <a:solidFill>
            <a:srgbClr val="F59E0B">
              <a:alpha val="72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20574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2423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3703320" y="31546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Yanlış Alarm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325880" y="3703320"/>
            <a:ext cx="2194560" cy="1554480"/>
          </a:xfrm>
          <a:prstGeom prst="rect">
            <a:avLst/>
          </a:prstGeom>
          <a:solidFill>
            <a:srgbClr val="EF4444">
              <a:alpha val="72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25880" y="3794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25880" y="4160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25880" y="4892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Kaçırılan Anomali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03320" y="3703320"/>
            <a:ext cx="2194560" cy="1554480"/>
          </a:xfrm>
          <a:prstGeom prst="rect">
            <a:avLst/>
          </a:prstGeom>
          <a:solidFill>
            <a:srgbClr val="0D9488">
              <a:alpha val="72000"/>
            </a:srgbClr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3794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703320" y="4160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3703320" y="4892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Anomali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132320" y="1298448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 Karşılaştırmalı Hata Profili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664208"/>
          <a:ext cx="4572000" cy="193852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Syscall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Context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★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★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132320" y="3730752"/>
            <a:ext cx="64008" cy="420624"/>
          </a:xfrm>
          <a:prstGeom prst="rect">
            <a:avLst/>
          </a:prstGeom>
          <a:solidFill>
            <a:srgbClr val="2D3F55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315200" y="3730752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STIDE 18 anomaliyi kaçırıyor — LSTM bu açığı kapatıyor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132320" y="4279392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15200" y="4279392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Syscall: aynı FP, FN 18 → 7'ye iniyor (↑ recall)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132320" y="4828032"/>
            <a:ext cx="64008" cy="42062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15200" y="4828032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Context: FN = 0 ama FP artıyor (13 vs 6)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532120"/>
            <a:ext cx="11247120" cy="749808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532120"/>
            <a:ext cx="10881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Syscall: yanlış alarm artırmadan 11 ek anomali yakaladı  ·  Güvenlik öncelikli kullanım: Context modeli (FN = 0, ancak ↑ FPR)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</a:t>
            </a: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Confusion Matrix'ler (q95 Threshold)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9277" y="578885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3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P=0.941  R=0.842  F1=0.889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12920" y="578885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P=0.947  R=0.939  F1=0.943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38160" y="578885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P=0.898  R=1.000  F1=0.946</a:t>
            </a:r>
            <a:endParaRPr lang="en-US" sz="1200" dirty="0"/>
          </a:p>
        </p:txBody>
      </p:sp>
      <p:pic>
        <p:nvPicPr>
          <p:cNvPr id="48" name="Resim 47">
            <a:extLst>
              <a:ext uri="{FF2B5EF4-FFF2-40B4-BE49-F238E27FC236}">
                <a16:creationId xmlns:a16="http://schemas.microsoft.com/office/drawing/2014/main" id="{BA7CF90C-A824-D4FC-405A-7E89BC54D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65272"/>
            <a:ext cx="4111870" cy="4111870"/>
          </a:xfrm>
          <a:prstGeom prst="rect">
            <a:avLst/>
          </a:prstGeom>
        </p:spPr>
      </p:pic>
      <p:pic>
        <p:nvPicPr>
          <p:cNvPr id="50" name="Resim 49">
            <a:extLst>
              <a:ext uri="{FF2B5EF4-FFF2-40B4-BE49-F238E27FC236}">
                <a16:creationId xmlns:a16="http://schemas.microsoft.com/office/drawing/2014/main" id="{08625314-3AC3-35CF-718F-B3E5E1B2D4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065" y="1165272"/>
            <a:ext cx="4111870" cy="4111870"/>
          </a:xfrm>
          <a:prstGeom prst="rect">
            <a:avLst/>
          </a:prstGeom>
        </p:spPr>
      </p:pic>
      <p:pic>
        <p:nvPicPr>
          <p:cNvPr id="52" name="Resim 51">
            <a:extLst>
              <a:ext uri="{FF2B5EF4-FFF2-40B4-BE49-F238E27FC236}">
                <a16:creationId xmlns:a16="http://schemas.microsoft.com/office/drawing/2014/main" id="{313879AC-712B-8BB8-A7B6-52FF1B182B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130" y="1165272"/>
            <a:ext cx="4111870" cy="41118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DAĞILIMI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ve Anomali Trace Skorlarının Ayrılabilirliği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298448"/>
          <a:ext cx="713232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59612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skor aralığı (yaklaşık gösterim)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7955280" y="1417320"/>
            <a:ext cx="3840480" cy="1234440"/>
          </a:xfrm>
          <a:prstGeom prst="rect">
            <a:avLst/>
          </a:prstGeom>
          <a:solidFill>
            <a:srgbClr val="F8FAFC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417320"/>
            <a:ext cx="594360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41732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641080" y="146304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bir boşluk var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2440" y="1874520"/>
            <a:ext cx="3611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trace q99 = 0.55. Anomali trace min = 0.77. İki dağılım arasında temiz bir ayrım mevcut.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955280" y="2834640"/>
            <a:ext cx="3840480" cy="1234440"/>
          </a:xfrm>
          <a:prstGeom prst="rect">
            <a:avLst/>
          </a:prstGeom>
          <a:solidFill>
            <a:srgbClr val="F8FAFC"/>
          </a:solidFill>
          <a:ln w="19050">
            <a:solidFill>
              <a:srgbClr val="2D3F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55280" y="2834640"/>
            <a:ext cx="594360" cy="420624"/>
          </a:xfrm>
          <a:prstGeom prst="rect">
            <a:avLst/>
          </a:prstGeom>
          <a:solidFill>
            <a:srgbClr val="2D3F55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55280" y="28346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q95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641080" y="28803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savunulabilir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092440" y="3291840"/>
            <a:ext cx="3611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q95 = 0.895 bu boşluğa yerleşiyor. Sadece 762 normalden 7'si eşiği geçiyor (FPR = 0.009).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55280" y="4251960"/>
            <a:ext cx="3840480" cy="1234440"/>
          </a:xfrm>
          <a:prstGeom prst="rect">
            <a:avLst/>
          </a:prstGeom>
          <a:solidFill>
            <a:srgbClr val="F8FAFC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55280" y="4251960"/>
            <a:ext cx="594360" cy="42062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0" y="425196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641080" y="42976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0.9962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92440" y="4709160"/>
            <a:ext cx="3611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Ayrım rastgele değil. Model saldırı sırasında ortaya çıkan nadir syscall geçişlerini yakalıyor.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YEREL İZ KANITLARI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İçi NLL Profili ve Açıklanabilirlik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7132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Anomali Trace — Pencere Bazında NLL Skoru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664208"/>
          <a:ext cx="713232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23951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00" dirty="0"/>
              <a:t>Pencere 24–25 civarı: en güçlü anomali sinyali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63840" y="1298448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 Anomali Sinyali Kaynağı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863840" y="1719072"/>
            <a:ext cx="3931920" cy="1188720"/>
          </a:xfrm>
          <a:prstGeom prst="rect">
            <a:avLst/>
          </a:prstGeom>
          <a:solidFill>
            <a:srgbClr val="F8FAFC"/>
          </a:solidFill>
          <a:ln w="19050">
            <a:solidFill>
              <a:srgbClr val="2D3F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0" y="1810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STIDE — N-gram boşlukları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046720" y="22219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Saldırı pencerelerinde hiç görülmemiş 6'lı syscall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dizileri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mismatch oranı artıyor.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090672"/>
            <a:ext cx="3931920" cy="1188720"/>
          </a:xfrm>
          <a:prstGeom prst="rect">
            <a:avLst/>
          </a:prstGeom>
          <a:solidFill>
            <a:srgbClr val="F8FAFC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0" y="3182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Syscall — Olasılıksız geçişler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046720" y="35935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</a:t>
            </a:r>
            <a:r>
              <a:rPr lang="tr-TR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wait4 döngüsü yerine execve, chmod, open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geçişleri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63840" y="4462272"/>
            <a:ext cx="3931920" cy="1188720"/>
          </a:xfrm>
          <a:prstGeom prst="rect">
            <a:avLst/>
          </a:prstGeom>
          <a:solidFill>
            <a:srgbClr val="F8FAFC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6720" y="4553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Context — Anormal process bağlamı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49651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apache2 sürecinin execve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yapması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hem syscall hem process bağlamı görülmemiş kombinasyon.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TARTIŞMA, SINIRLILIKLAR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Bulgular, Kısıtlar ve Final Karar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8348" y="1389888"/>
            <a:ext cx="352044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9788" y="138988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Bulgular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2940" y="202996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5548" y="1984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PHP_CWE-434'te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tespiti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2940" y="257860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5548" y="253288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Trace-level eval: F1 0.94+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312724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" y="308152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Syscall: en dengeli model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940" y="367588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5548" y="363016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recall kazanımı + ↑ FPR tradeoff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2940" y="422452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548" y="417880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≥ 0.99 tüm modellerde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20540" y="1389888"/>
            <a:ext cx="352044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1980" y="138988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Sınırlılıklar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485132" y="2029968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7740" y="1984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senaryo — genelleme argümanı zayıf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85132" y="2578608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7740" y="253288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validation anomali seti (2 trace)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485132" y="3127248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7740" y="308152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trace-level değerlendirme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42732" y="1389888"/>
            <a:ext cx="3520440" cy="47548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34172" y="138988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Çalışmalar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307324" y="2029968"/>
            <a:ext cx="182880" cy="1828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9932" y="1984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 LID-DS senaryolarında doğrulama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307324" y="2578608"/>
            <a:ext cx="182880" cy="1828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99932" y="253288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 streaming tespit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07324" y="3127248"/>
            <a:ext cx="182880" cy="1828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99932" y="308152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Multi-stream context mimarisi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307324" y="3675888"/>
            <a:ext cx="182880" cy="1828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9932" y="363016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güçlü threshold kalibrasyonu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" y="1609344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5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94560" y="3218688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94560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38587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trace yükleme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(.zip / .sc)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40680" y="3218688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0680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434840" y="38587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seçimi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STIDE / LSTM Syscall / LSTM Context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0" y="3218688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0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680960" y="38587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Trace-level karar +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şüpheli pencereler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etin kutusu 1">
            <a:extLst>
              <a:ext uri="{FF2B5EF4-FFF2-40B4-BE49-F238E27FC236}">
                <a16:creationId xmlns:a16="http://schemas.microsoft.com/office/drawing/2014/main" id="{FBE4C4B7-11A9-66A9-38EC-4899CD9FA044}"/>
              </a:ext>
            </a:extLst>
          </p:cNvPr>
          <p:cNvSpPr txBox="1"/>
          <p:nvPr/>
        </p:nvSpPr>
        <p:spPr>
          <a:xfrm>
            <a:off x="4393386" y="2659559"/>
            <a:ext cx="34052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4400" b="1" dirty="0"/>
              <a:t>TEŞEKKÜRLER</a:t>
            </a:r>
          </a:p>
        </p:txBody>
      </p:sp>
    </p:spTree>
    <p:extLst>
      <p:ext uri="{BB962C8B-B14F-4D97-AF65-F5344CB8AC3E}">
        <p14:creationId xmlns:p14="http://schemas.microsoft.com/office/powerpoint/2010/main" val="2869559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993</Words>
  <Application>Microsoft Office PowerPoint</Application>
  <PresentationFormat>Geniş ekran</PresentationFormat>
  <Paragraphs>279</Paragraphs>
  <Slides>14</Slides>
  <Notes>13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LSTM Tabanlı Anomali Tespiti</dc:title>
  <dc:subject>PptxGenJS Presentation</dc:subject>
  <dc:creator>Emirhan Müftüoğlu</dc:creator>
  <cp:lastModifiedBy>Emirhan MÜFTÜOĞLU</cp:lastModifiedBy>
  <cp:revision>34</cp:revision>
  <dcterms:created xsi:type="dcterms:W3CDTF">2026-05-15T11:47:38Z</dcterms:created>
  <dcterms:modified xsi:type="dcterms:W3CDTF">2026-05-15T14:08:53Z</dcterms:modified>
</cp:coreProperties>
</file>