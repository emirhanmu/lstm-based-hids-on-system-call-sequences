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26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70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BİTİRME PROJESİ  ·  BİLGİSAYAR MÜHENDİSLİĞİ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Call Sequence'leri Üzerinde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Tabanlı Anomali Tespiti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LID-DS 2021 üzerinde STIDE ve LSTM tabanlı modellerin trace-level karşılaştırması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Emirhan Müftüoğlu</a:t>
            </a:r>
            <a:endParaRPr lang="en-US" sz="16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200722102</a:t>
            </a:r>
            <a:endParaRPr lang="en-US" sz="16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Muhammet İsmail Kurtuluş</a:t>
            </a:r>
            <a:endParaRPr lang="en-US" sz="16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210901045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0" y="3977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DANIŞMAN</a:t>
            </a:r>
            <a:endParaRPr lang="en-US" sz="10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Sedat Akleylek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 ve Doğa Bilimleri Fakültesi  ·  Bilgisayar Mühendisliği Bölümü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MOTİVASYON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Linux Syscall Anomali Tespiti?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990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70432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Saldırılar runtime'da görünür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719072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 seviyesinde değil, process davranışında izlenebilir. Zararlı process'ler kernel çağrılarından kaçınamaz.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70432" y="2697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5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r>
              <a:rPr lang="en-US" sz="15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tabanlı tespit yetersiz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3090672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dirty="0"/>
              <a:t>Kural tabanlı sistemler bilinmeyen veya varyant saldırıları genellikle yakalayamaz.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42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70432" y="4069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call'lar doğrudan sinyal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4462272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dirty="0"/>
              <a:t>Her </a:t>
            </a:r>
            <a:r>
              <a:rPr lang="tr-TR" sz="1100" dirty="0" err="1"/>
              <a:t>process</a:t>
            </a:r>
            <a:r>
              <a:rPr lang="tr-TR" sz="1100" dirty="0"/>
              <a:t> </a:t>
            </a:r>
            <a:r>
              <a:rPr lang="tr-TR" sz="1100" dirty="0" err="1"/>
              <a:t>kernel</a:t>
            </a:r>
            <a:r>
              <a:rPr lang="tr-TR" sz="1100" dirty="0"/>
              <a:t> ile yalnızca </a:t>
            </a:r>
            <a:r>
              <a:rPr lang="tr-TR" sz="1100" dirty="0" err="1"/>
              <a:t>system</a:t>
            </a:r>
            <a:r>
              <a:rPr lang="tr-TR" sz="1100" dirty="0"/>
              <a:t> </a:t>
            </a:r>
            <a:r>
              <a:rPr lang="tr-TR" sz="1100" dirty="0" err="1"/>
              <a:t>call’lar</a:t>
            </a:r>
            <a:r>
              <a:rPr lang="tr-TR" sz="1100" dirty="0"/>
              <a:t> üzerinden iletişim kurar. Bu nedenle normal davranışın en doğrudan izlerinden biri burada oluşur.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325880"/>
            <a:ext cx="4206240" cy="621792"/>
          </a:xfrm>
          <a:prstGeom prst="rect">
            <a:avLst/>
          </a:prstGeom>
          <a:solidFill>
            <a:srgbClr val="3D5A7A"/>
          </a:solidFill>
          <a:ln w="12700">
            <a:solidFill>
              <a:srgbClr val="3D5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3258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18904" y="1947672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2313432"/>
            <a:ext cx="4206240" cy="621792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31343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18904" y="2935224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3300984"/>
            <a:ext cx="420624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30098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18904" y="3922776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4288536"/>
            <a:ext cx="4206240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428853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Tespiti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5715000"/>
            <a:ext cx="11247120" cy="8686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7150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Sorusu:  </a:t>
            </a: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syscall örüntüleri öğrenilerek Linux process anomalileri güvenilir biçimde tespit edilebilir mi?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VE VERİ SETİ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Kapsamı ve Veri Seti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298448"/>
            <a:ext cx="35661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/>
          <p:nvPr/>
        </p:nvSpPr>
        <p:spPr>
          <a:xfrm>
            <a:off x="713232" y="1453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LID-DS 2021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116836"/>
            <a:ext cx="3413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Liepzig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Intrusion Detection Dataset</a:t>
            </a:r>
            <a:br>
              <a:rPr lang="tr-T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100" dirty="0" err="1">
                <a:solidFill>
                  <a:schemeClr val="accent3">
                    <a:lumMod val="75000"/>
                  </a:schemeClr>
                </a:solidFill>
              </a:rPr>
              <a:t>Dataset</a:t>
            </a:r>
            <a:r>
              <a:rPr lang="tr-TR" sz="1100" dirty="0">
                <a:solidFill>
                  <a:schemeClr val="accent3">
                    <a:lumMod val="75000"/>
                  </a:schemeClr>
                </a:solidFill>
              </a:rPr>
              <a:t> reference: </a:t>
            </a:r>
            <a:r>
              <a:rPr lang="tr-TR" sz="1100" dirty="0" err="1">
                <a:solidFill>
                  <a:schemeClr val="accent3">
                    <a:lumMod val="75000"/>
                  </a:schemeClr>
                </a:solidFill>
              </a:rPr>
              <a:t>Grimmer</a:t>
            </a:r>
            <a:r>
              <a:rPr lang="tr-TR" sz="1100" dirty="0">
                <a:solidFill>
                  <a:schemeClr val="accent3">
                    <a:lumMod val="75000"/>
                  </a:schemeClr>
                </a:solidFill>
              </a:rPr>
              <a:t> et al., 2023, Leipzig </a:t>
            </a:r>
            <a:r>
              <a:rPr lang="tr-TR" sz="1100" dirty="0" err="1">
                <a:solidFill>
                  <a:schemeClr val="accent3">
                    <a:lumMod val="75000"/>
                  </a:schemeClr>
                </a:solidFill>
              </a:rPr>
              <a:t>University</a:t>
            </a:r>
            <a:endParaRPr lang="en-US" sz="11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298448"/>
            <a:ext cx="35661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53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PHP_CWE-434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231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yükleme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saldırısı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1298448"/>
            <a:ext cx="35661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53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Tipi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47888" y="1755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Senaryo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7888" y="2231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0832" y="2898648"/>
            <a:ext cx="35661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3355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Normal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97680" y="2898648"/>
            <a:ext cx="356616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3355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Trace-Level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0560" y="3831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top-10% mean pooling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65008" y="2898648"/>
            <a:ext cx="3566160" cy="137160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47888" y="3355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= 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47888" y="3831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trace'leri doğrulandı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468112"/>
            <a:ext cx="11247120" cy="11155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51383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48640" y="6089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Trace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61488" y="551383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1.86M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761488" y="6089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tr-TR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74336" y="551383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974336" y="6089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Trace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87184" y="551383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187184" y="6089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Trace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00032" y="551383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400032" y="6089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</a:t>
            </a:r>
            <a:r>
              <a:rPr lang="tr-TR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Test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METODOLOJİ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Trace'ten Trace-Level Karara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4068" y="1508760"/>
            <a:ext cx="1124712" cy="804672"/>
          </a:xfrm>
          <a:prstGeom prst="rect">
            <a:avLst/>
          </a:prstGeom>
          <a:solidFill>
            <a:srgbClr val="3D5A7A"/>
          </a:solidFill>
          <a:ln w="12700">
            <a:solidFill>
              <a:srgbClr val="3D5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0644" y="15453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68780" y="1911096"/>
            <a:ext cx="11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87652" y="1508760"/>
            <a:ext cx="1124712" cy="804672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4228" y="15453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12364" y="1911096"/>
            <a:ext cx="11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31236" y="1508760"/>
            <a:ext cx="1124712" cy="804672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7812" y="15453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55948" y="1911096"/>
            <a:ext cx="11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74820" y="1508760"/>
            <a:ext cx="1124712" cy="804672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1396" y="15453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900" dirty="0"/>
          </a:p>
          <a:p>
            <a:pPr algn="ctr"/>
            <a:r>
              <a:rPr lang="tr-TR" sz="900" b="1" dirty="0" err="1">
                <a:solidFill>
                  <a:schemeClr val="bg1"/>
                </a:solidFill>
              </a:rPr>
              <a:t>Grouping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99532" y="1911096"/>
            <a:ext cx="11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18404" y="1508760"/>
            <a:ext cx="1124712" cy="804672"/>
          </a:xfrm>
          <a:prstGeom prst="rect">
            <a:avLst/>
          </a:prstGeom>
          <a:solidFill>
            <a:srgbClr val="3D5A7A"/>
          </a:solidFill>
          <a:ln w="12700">
            <a:solidFill>
              <a:srgbClr val="3D5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4980" y="15453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43116" y="1911096"/>
            <a:ext cx="11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1988" y="1508760"/>
            <a:ext cx="1124712" cy="804672"/>
          </a:xfrm>
          <a:prstGeom prst="rect">
            <a:avLst/>
          </a:prstGeom>
          <a:solidFill>
            <a:srgbClr val="3D5A7A"/>
          </a:solidFill>
          <a:ln w="12700">
            <a:solidFill>
              <a:srgbClr val="3D5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8564" y="15453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86700" y="1911096"/>
            <a:ext cx="11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05572" y="1508760"/>
            <a:ext cx="112471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2148" y="15453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30284" y="1911096"/>
            <a:ext cx="11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49156" y="1508760"/>
            <a:ext cx="112471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5732" y="15453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373868" y="1911096"/>
            <a:ext cx="11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92740" y="1508760"/>
            <a:ext cx="1124712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1545336"/>
            <a:ext cx="7927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tr-TR" sz="900" b="1" dirty="0" err="1">
                <a:solidFill>
                  <a:schemeClr val="bg1"/>
                </a:solidFill>
              </a:rPr>
              <a:t>Trace</a:t>
            </a:r>
            <a:r>
              <a:rPr lang="tr-TR" sz="900" b="1" dirty="0">
                <a:solidFill>
                  <a:schemeClr val="bg1"/>
                </a:solidFill>
              </a:rPr>
              <a:t>-Level </a:t>
            </a:r>
            <a:r>
              <a:rPr lang="tr-TR" sz="900" b="1" dirty="0" err="1">
                <a:solidFill>
                  <a:schemeClr val="bg1"/>
                </a:solidFill>
              </a:rPr>
              <a:t>Decision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2514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Parametreler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31720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5528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Gruplama: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29800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bazlı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Etiketleme: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0" y="3336857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200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boundary discard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20624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076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normal trace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5528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2980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Validation-normal q95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547446" y="4425696"/>
            <a:ext cx="8475785" cy="923544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16723" y="4608575"/>
            <a:ext cx="7867358" cy="520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400" dirty="0" err="1"/>
              <a:t>Trace-level</a:t>
            </a:r>
            <a:r>
              <a:rPr lang="tr-TR" sz="1400" dirty="0"/>
              <a:t> top-10% </a:t>
            </a:r>
            <a:r>
              <a:rPr lang="tr-TR" sz="1400" dirty="0" err="1"/>
              <a:t>pooling</a:t>
            </a:r>
            <a:r>
              <a:rPr lang="tr-TR" sz="1400" dirty="0"/>
              <a:t>, </a:t>
            </a:r>
            <a:r>
              <a:rPr lang="tr-TR" sz="1400" dirty="0" err="1"/>
              <a:t>raw</a:t>
            </a:r>
            <a:r>
              <a:rPr lang="tr-TR" sz="1400" dirty="0"/>
              <a:t> </a:t>
            </a:r>
            <a:r>
              <a:rPr lang="tr-TR" sz="1400" dirty="0" err="1"/>
              <a:t>window-level</a:t>
            </a:r>
            <a:r>
              <a:rPr lang="tr-TR" sz="1400" dirty="0"/>
              <a:t> </a:t>
            </a:r>
            <a:r>
              <a:rPr lang="tr-TR" sz="1400" dirty="0" err="1"/>
              <a:t>evaluationa</a:t>
            </a:r>
            <a:r>
              <a:rPr lang="tr-TR" sz="1400" dirty="0"/>
              <a:t> göre performansı belirgin biçimde iyileştirdi.</a:t>
            </a:r>
            <a:br>
              <a:rPr lang="tr-TR" sz="1400" dirty="0"/>
            </a:br>
            <a:r>
              <a:rPr lang="tr-TR" sz="1400" dirty="0"/>
              <a:t>Bu bulgu, kararın </a:t>
            </a:r>
            <a:r>
              <a:rPr lang="tr-TR" sz="1400" dirty="0" err="1"/>
              <a:t>trace</a:t>
            </a:r>
            <a:r>
              <a:rPr lang="tr-TR" sz="1400" dirty="0"/>
              <a:t> seviyesinde verilmesinin metodolojik olarak daha uygun olduğunu gösterdi.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Karşılaştırılan 3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38912" y="1261872"/>
            <a:ext cx="3566160" cy="4663440"/>
          </a:xfrm>
          <a:prstGeom prst="rect">
            <a:avLst/>
          </a:prstGeom>
          <a:solidFill>
            <a:srgbClr val="F8FAFC"/>
          </a:solidFill>
          <a:ln w="25400">
            <a:solidFill>
              <a:srgbClr val="2D3F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261872"/>
            <a:ext cx="3566160" cy="1097280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25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24871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907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6-gram hafıza tabanlı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trace'lerden n-gram sözlüğü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oranı → anomali skoru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44439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1999'dan kullanılan klasik HIDS yöntemi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2920" y="1261872"/>
            <a:ext cx="3566160" cy="4663440"/>
          </a:xfrm>
          <a:prstGeom prst="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261872"/>
            <a:ext cx="356616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325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1737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Syscall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80560" y="24871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907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syscall ID'leri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 eğitimi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skoru: pencere NLL ortalaması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44439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Embedding(64) → LSTM(128) → Linear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6448" y="1261872"/>
            <a:ext cx="3566160" cy="4663440"/>
          </a:xfrm>
          <a:prstGeom prst="rect">
            <a:avLst/>
          </a:prstGeom>
          <a:solidFill>
            <a:srgbClr val="F8FAFC"/>
          </a:solidFill>
          <a:ln w="25400">
            <a:solidFill>
              <a:srgbClr val="3D5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1261872"/>
            <a:ext cx="3566160" cy="1097280"/>
          </a:xfrm>
          <a:prstGeom prst="rect">
            <a:avLst/>
          </a:prstGeom>
          <a:solidFill>
            <a:srgbClr val="3D5A7A"/>
          </a:solidFill>
          <a:ln w="12700">
            <a:solidFill>
              <a:srgbClr val="3D5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1325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47888" y="1737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Context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39328" y="24871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39328" y="2907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+ process_name + return_status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9328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Kombine token encoding (vocab=134)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39328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LSTM mimarisi, daha zengin girdi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39328" y="44439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katkısını ölçen ablation bileşeni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modeller: aynı trace-level top-10% pooling  ·  aynı validation-normal q95 threshold  ·  aynı test seti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SONUÇLAR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Validation-Normal q95 Threshold ile Ana Sonuçlar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99737"/>
              </p:ext>
            </p:extLst>
          </p:nvPr>
        </p:nvGraphicFramePr>
        <p:xfrm>
          <a:off x="457200" y="1298448"/>
          <a:ext cx="10698480" cy="204825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D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Syscall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400" dirty="0">
                        <a:solidFill>
                          <a:schemeClr val="tx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D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58768"/>
            <a:ext cx="361188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2D3F55"/>
            </a:solidFill>
            <a:prstDash val="solid"/>
          </a:ln>
        </p:spPr>
      </p:sp>
      <p:sp>
        <p:nvSpPr>
          <p:cNvPr id="4" name="Shape 4"/>
          <p:cNvSpPr/>
          <p:nvPr/>
        </p:nvSpPr>
        <p:spPr>
          <a:xfrm>
            <a:off x="457200" y="3858768"/>
            <a:ext cx="3611880" cy="420624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85876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36168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baseline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0.889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51960" y="3858768"/>
            <a:ext cx="361188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3858768"/>
            <a:ext cx="36118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385876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Syscall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43400" y="436168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dengeli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0.943  ·  FPR = 0.008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3858768"/>
            <a:ext cx="361188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0" y="3858768"/>
            <a:ext cx="3611880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385876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Context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38160" y="436168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recall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1.000  ·  FN = 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5504688"/>
            <a:ext cx="11201400" cy="74980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504688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Model: LSTM Syscall — en dengeli F1/FPR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DUYARLILIK ANALİZİ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Sağlamlığı </a:t>
            </a:r>
            <a:r>
              <a:rPr lang="en-US" sz="27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2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2800" b="1" dirty="0"/>
              <a:t>ROC</a:t>
            </a:r>
            <a:r>
              <a:rPr lang="en-US" sz="2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Karşılaştırması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4428" y="1917076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Threshold Stratejilerinde Sonuçlar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114861"/>
              </p:ext>
            </p:extLst>
          </p:nvPr>
        </p:nvGraphicFramePr>
        <p:xfrm>
          <a:off x="140677" y="2523392"/>
          <a:ext cx="6858000" cy="182000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q95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q90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q95 FPR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q90 FPR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Syscall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91655" y="4649371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q90: (↑ recall, ↑ FPR)   ·   q95: (↑ precision, ↓ FPR)</a:t>
            </a:r>
            <a:endParaRPr lang="en-US" sz="1200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14FDDCC-206D-03EF-AE8E-A7C7441E1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655" y="1770416"/>
            <a:ext cx="5142346" cy="36016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ANALİZİ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ve Hata Profili  (q95 Threshold)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Syscall — Confusion Matrix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Tahmin: Normal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0332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Tahmin: Anomali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25880" y="1965960"/>
            <a:ext cx="2194560" cy="1554480"/>
          </a:xfrm>
          <a:prstGeom prst="rect">
            <a:avLst/>
          </a:prstGeom>
          <a:solidFill>
            <a:srgbClr val="10B981">
              <a:alpha val="7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57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325880" y="3154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Normal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1965960"/>
            <a:ext cx="2194560" cy="1554480"/>
          </a:xfrm>
          <a:prstGeom prst="rect">
            <a:avLst/>
          </a:prstGeom>
          <a:solidFill>
            <a:srgbClr val="F59E0B">
              <a:alpha val="7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057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703320" y="3154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Alarm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25880" y="3703320"/>
            <a:ext cx="2194560" cy="1554480"/>
          </a:xfrm>
          <a:prstGeom prst="rect">
            <a:avLst/>
          </a:prstGeom>
          <a:solidFill>
            <a:srgbClr val="EF4444">
              <a:alpha val="72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3794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25880" y="4892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Kaçırılan Anomali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3703320"/>
            <a:ext cx="2194560" cy="1554480"/>
          </a:xfrm>
          <a:prstGeom prst="rect">
            <a:avLst/>
          </a:prstGeom>
          <a:solidFill>
            <a:srgbClr val="0D9488">
              <a:alpha val="72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3794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4160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3703320" y="4892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Anomali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129844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Karşılaştırmalı Hata Profili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664208"/>
          <a:ext cx="4572000" cy="19385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Syscall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7315200" y="37307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200" dirty="0"/>
              <a:t>STIDE daha fazla anomali </a:t>
            </a:r>
            <a:r>
              <a:rPr lang="tr-TR" sz="1200" dirty="0" err="1"/>
              <a:t>trace</a:t>
            </a:r>
            <a:r>
              <a:rPr lang="tr-TR" sz="1200" dirty="0"/>
              <a:t> kaçırıyor; LSTM modeller bu açığı azaltıyor.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315200" y="4279392"/>
            <a:ext cx="45104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200" dirty="0"/>
              <a:t>LSTM </a:t>
            </a:r>
            <a:r>
              <a:rPr lang="tr-TR" sz="1200" dirty="0" err="1"/>
              <a:t>Syscall</a:t>
            </a:r>
            <a:r>
              <a:rPr lang="tr-TR" sz="1200" dirty="0"/>
              <a:t>, aynı FP sayısını koruyarak </a:t>
            </a:r>
            <a:r>
              <a:rPr lang="tr-TR" sz="1200" dirty="0" err="1"/>
              <a:t>FN’yi</a:t>
            </a:r>
            <a:r>
              <a:rPr lang="tr-TR" sz="1200" dirty="0"/>
              <a:t> 18’den 7’ye düşürüyor.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LSTM Context: FN = 0 ama FP artıyor (13 vs 6)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Confusion Matrix'ler (q95 Threshold)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9277" y="5788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P=0.941  R=0.842  F1=0.889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12920" y="5788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P=0.947  R=0.939  F1=0.943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38160" y="5788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P=0.898  R=1.000  F1=0.946</a:t>
            </a:r>
            <a:endParaRPr lang="en-US" sz="1200" dirty="0"/>
          </a:p>
        </p:txBody>
      </p:sp>
      <p:pic>
        <p:nvPicPr>
          <p:cNvPr id="48" name="Resim 47">
            <a:extLst>
              <a:ext uri="{FF2B5EF4-FFF2-40B4-BE49-F238E27FC236}">
                <a16:creationId xmlns:a16="http://schemas.microsoft.com/office/drawing/2014/main" id="{BA7CF90C-A824-D4FC-405A-7E89BC54D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5272"/>
            <a:ext cx="4111870" cy="4111870"/>
          </a:xfrm>
          <a:prstGeom prst="rect">
            <a:avLst/>
          </a:prstGeom>
        </p:spPr>
      </p:pic>
      <p:pic>
        <p:nvPicPr>
          <p:cNvPr id="50" name="Resim 49">
            <a:extLst>
              <a:ext uri="{FF2B5EF4-FFF2-40B4-BE49-F238E27FC236}">
                <a16:creationId xmlns:a16="http://schemas.microsoft.com/office/drawing/2014/main" id="{08625314-3AC3-35CF-718F-B3E5E1B2D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065" y="1165272"/>
            <a:ext cx="4111870" cy="4111870"/>
          </a:xfrm>
          <a:prstGeom prst="rect">
            <a:avLst/>
          </a:prstGeom>
        </p:spPr>
      </p:pic>
      <p:pic>
        <p:nvPicPr>
          <p:cNvPr id="52" name="Resim 51">
            <a:extLst>
              <a:ext uri="{FF2B5EF4-FFF2-40B4-BE49-F238E27FC236}">
                <a16:creationId xmlns:a16="http://schemas.microsoft.com/office/drawing/2014/main" id="{313879AC-712B-8BB8-A7B6-52FF1B182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130" y="1165272"/>
            <a:ext cx="4111870" cy="41118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DAĞILIMI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ve Anomali Trace Skorlarının Ayrılabilirliği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955280" y="1417320"/>
            <a:ext cx="384048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1538654"/>
            <a:ext cx="3611880" cy="1039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b="1" dirty="0"/>
              <a:t>Net bir ayrışma var</a:t>
            </a:r>
            <a:br>
              <a:rPr lang="tr-TR" sz="1100" dirty="0"/>
            </a:br>
            <a:r>
              <a:rPr lang="tr-TR" sz="1100" dirty="0"/>
              <a:t>Normal </a:t>
            </a:r>
            <a:r>
              <a:rPr lang="tr-TR" sz="1100" dirty="0" err="1"/>
              <a:t>trace</a:t>
            </a:r>
            <a:r>
              <a:rPr lang="tr-TR" sz="1100" dirty="0"/>
              <a:t> q99 = </a:t>
            </a:r>
            <a:r>
              <a:rPr lang="tr-TR" sz="1100" b="1" dirty="0"/>
              <a:t>0.554</a:t>
            </a:r>
            <a:r>
              <a:rPr lang="tr-TR" sz="1100" dirty="0"/>
              <a:t>.</a:t>
            </a:r>
            <a:br>
              <a:rPr lang="tr-TR" sz="1100" dirty="0"/>
            </a:br>
            <a:r>
              <a:rPr lang="tr-TR" sz="1100" dirty="0"/>
              <a:t>Anomali </a:t>
            </a:r>
            <a:r>
              <a:rPr lang="tr-TR" sz="1100" dirty="0" err="1"/>
              <a:t>trace</a:t>
            </a:r>
            <a:r>
              <a:rPr lang="tr-TR" sz="1100" dirty="0"/>
              <a:t> minimumu = </a:t>
            </a:r>
            <a:r>
              <a:rPr lang="tr-TR" sz="1100" b="1" dirty="0"/>
              <a:t>0.773</a:t>
            </a:r>
            <a:r>
              <a:rPr lang="tr-TR" sz="1100" dirty="0"/>
              <a:t>.</a:t>
            </a:r>
            <a:br>
              <a:rPr lang="tr-TR" sz="1100" dirty="0"/>
            </a:br>
            <a:r>
              <a:rPr lang="tr-TR" sz="1100" dirty="0"/>
              <a:t>Bu, normal ve </a:t>
            </a:r>
            <a:r>
              <a:rPr lang="tr-TR" sz="1100" dirty="0" err="1"/>
              <a:t>anomalous</a:t>
            </a:r>
            <a:r>
              <a:rPr lang="tr-TR" sz="1100" dirty="0"/>
              <a:t> </a:t>
            </a:r>
            <a:r>
              <a:rPr lang="tr-TR" sz="1100" dirty="0" err="1"/>
              <a:t>trace</a:t>
            </a:r>
            <a:r>
              <a:rPr lang="tr-TR" sz="1100" dirty="0"/>
              <a:t> skorlarının büyük ölçüde ayrıştığını gösteriyor.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2834640"/>
            <a:ext cx="384048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2D3F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2907792"/>
            <a:ext cx="3611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b="1" dirty="0" err="1"/>
              <a:t>Threshold</a:t>
            </a:r>
            <a:r>
              <a:rPr lang="tr-TR" sz="1100" b="1" dirty="0"/>
              <a:t> savunulabilir</a:t>
            </a:r>
            <a:br>
              <a:rPr lang="tr-TR" sz="1100" dirty="0"/>
            </a:br>
            <a:r>
              <a:rPr lang="tr-TR" sz="1100" dirty="0"/>
              <a:t>q95 = </a:t>
            </a:r>
            <a:r>
              <a:rPr lang="tr-TR" sz="1100" b="1" dirty="0"/>
              <a:t>0.895</a:t>
            </a:r>
            <a:r>
              <a:rPr lang="tr-TR" sz="1100" dirty="0"/>
              <a:t> </a:t>
            </a:r>
            <a:br>
              <a:rPr lang="tr-TR" sz="1100" dirty="0"/>
            </a:br>
            <a:br>
              <a:rPr lang="tr-TR" sz="1100" dirty="0"/>
            </a:br>
            <a:r>
              <a:rPr lang="tr-TR" sz="1100" dirty="0"/>
              <a:t>Sadece 762 normal </a:t>
            </a:r>
            <a:r>
              <a:rPr lang="tr-TR" sz="1100" dirty="0" err="1"/>
              <a:t>trace’ten</a:t>
            </a:r>
            <a:r>
              <a:rPr lang="tr-TR" sz="1100" dirty="0"/>
              <a:t> 6’sı bu eşiği geçiyor (FPR = 0.0079).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4251960"/>
            <a:ext cx="384048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41080" y="4297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0.9962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92440" y="4709160"/>
            <a:ext cx="3611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dirty="0"/>
              <a:t>Ayrım rastgele değil. Model, normal ve </a:t>
            </a:r>
            <a:r>
              <a:rPr lang="tr-TR" sz="1100" dirty="0" err="1"/>
              <a:t>anomalous</a:t>
            </a:r>
            <a:r>
              <a:rPr lang="tr-TR" sz="1100" dirty="0"/>
              <a:t> </a:t>
            </a:r>
            <a:r>
              <a:rPr lang="tr-TR" sz="1100" dirty="0" err="1"/>
              <a:t>trace’leri</a:t>
            </a:r>
            <a:r>
              <a:rPr lang="tr-TR" sz="1100" dirty="0"/>
              <a:t> </a:t>
            </a:r>
            <a:r>
              <a:rPr lang="tr-TR" sz="1100" dirty="0" err="1"/>
              <a:t>threshold’dan</a:t>
            </a:r>
            <a:r>
              <a:rPr lang="tr-TR" sz="1100" dirty="0"/>
              <a:t> bağımsız olarak da çok güçlü ayırabiliyor.</a:t>
            </a:r>
            <a:endParaRPr lang="en-US" sz="1100" dirty="0"/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8366075D-FB3A-085C-C488-69EFE1214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" y="1463040"/>
            <a:ext cx="7846390" cy="4266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İZ KANITLARI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063240" y="26151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İçi NLL Profili ve Açıklanabilirlik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863840" y="12984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Anomali Sinyali Kaynağı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63840" y="1719072"/>
            <a:ext cx="3931920" cy="1188720"/>
          </a:xfrm>
          <a:prstGeom prst="rect">
            <a:avLst/>
          </a:prstGeom>
          <a:solidFill>
            <a:srgbClr val="F8FAFC"/>
          </a:solidFill>
          <a:ln w="19050">
            <a:solidFill>
              <a:srgbClr val="2D3F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STIDE — N-gram boşlukları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0" y="22219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dirty="0"/>
              <a:t>Yüksek skorlu pencerelerde daha önce görülmemiş 6’lı </a:t>
            </a:r>
            <a:r>
              <a:rPr lang="tr-TR" sz="1100" dirty="0" err="1"/>
              <a:t>syscall</a:t>
            </a:r>
            <a:r>
              <a:rPr lang="tr-TR" sz="1100" dirty="0"/>
              <a:t> dizileri nedeniyle </a:t>
            </a:r>
            <a:r>
              <a:rPr lang="tr-TR" sz="1100" dirty="0" err="1"/>
              <a:t>mismatch</a:t>
            </a:r>
            <a:r>
              <a:rPr lang="tr-TR" sz="1100" dirty="0"/>
              <a:t> oranı artıyor.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3090672"/>
            <a:ext cx="3931920" cy="118872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Syscall — Olasılıksız geçişler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0" y="35935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dirty="0" err="1"/>
              <a:t>select</a:t>
            </a:r>
            <a:r>
              <a:rPr lang="tr-TR" sz="1100" dirty="0"/>
              <a:t>/wait4 ağırlıklı normal akış yerine </a:t>
            </a:r>
            <a:r>
              <a:rPr lang="tr-TR" sz="1100" dirty="0" err="1"/>
              <a:t>execve</a:t>
            </a:r>
            <a:r>
              <a:rPr lang="tr-TR" sz="1100" dirty="0"/>
              <a:t>, </a:t>
            </a:r>
            <a:r>
              <a:rPr lang="tr-TR" sz="1100" dirty="0" err="1"/>
              <a:t>chmod</a:t>
            </a:r>
            <a:r>
              <a:rPr lang="tr-TR" sz="1100" dirty="0"/>
              <a:t> ve </a:t>
            </a:r>
            <a:r>
              <a:rPr lang="tr-TR" sz="1100" dirty="0" err="1"/>
              <a:t>open</a:t>
            </a:r>
            <a:r>
              <a:rPr lang="tr-TR" sz="1100" dirty="0"/>
              <a:t> gibi geçişleri daha düşük olasılıklı buluyor.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63840" y="4462272"/>
            <a:ext cx="3931920" cy="1188720"/>
          </a:xfrm>
          <a:prstGeom prst="rect">
            <a:avLst/>
          </a:prstGeom>
          <a:solidFill>
            <a:srgbClr val="F8FAFC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0" y="4553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Context — Anormal process bağlamı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49651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r-TR" sz="1100" dirty="0"/>
              <a:t>apache2 sürecinin </a:t>
            </a:r>
            <a:r>
              <a:rPr lang="tr-TR" sz="1100" dirty="0" err="1"/>
              <a:t>execve</a:t>
            </a:r>
            <a:r>
              <a:rPr lang="tr-TR" sz="1100" dirty="0"/>
              <a:t> ile görülmesi normal akışa göre daha sıra dışı bir kombinasyon oluşturuyor.</a:t>
            </a:r>
            <a:endParaRPr lang="en-US" sz="1100" dirty="0"/>
          </a:p>
        </p:txBody>
      </p:sp>
      <p:pic>
        <p:nvPicPr>
          <p:cNvPr id="20" name="Resim 19">
            <a:extLst>
              <a:ext uri="{FF2B5EF4-FFF2-40B4-BE49-F238E27FC236}">
                <a16:creationId xmlns:a16="http://schemas.microsoft.com/office/drawing/2014/main" id="{BEB1B86D-ECBF-E094-DF7B-CCFB6122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416"/>
            <a:ext cx="6981092" cy="3445886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AA80ECD9-9684-6811-E1AA-344C20153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91254"/>
            <a:ext cx="6981092" cy="28667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TARTIŞMA, SINIRLILIKLAR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Bulgular, Kısıtlar ve Final </a:t>
            </a:r>
            <a:r>
              <a:rPr lang="tr-TR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8348" y="1389888"/>
            <a:ext cx="35204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9788" y="1389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Bulgular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2940" y="202996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" y="19842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1"/>
                </a:solidFill>
              </a:rPr>
              <a:t>PHP_CWE-434 senaryosunda anomali tespiti başarılı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62940" y="257860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5548" y="253288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 err="1">
                <a:solidFill>
                  <a:schemeClr val="bg1"/>
                </a:solidFill>
              </a:rPr>
              <a:t>Trace-level</a:t>
            </a:r>
            <a:r>
              <a:rPr lang="tr-TR" sz="1100" dirty="0">
                <a:solidFill>
                  <a:schemeClr val="bg1"/>
                </a:solidFill>
              </a:rPr>
              <a:t> değerlendirme, </a:t>
            </a:r>
            <a:r>
              <a:rPr lang="tr-TR" sz="1100" dirty="0" err="1">
                <a:solidFill>
                  <a:schemeClr val="bg1"/>
                </a:solidFill>
              </a:rPr>
              <a:t>window-level</a:t>
            </a:r>
            <a:r>
              <a:rPr lang="tr-TR" sz="1100" dirty="0">
                <a:solidFill>
                  <a:schemeClr val="bg1"/>
                </a:solidFill>
              </a:rPr>
              <a:t> yaklaşıma göre belirgin iyileşme sağladı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62940" y="31272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5548" y="30815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Syscall: en dengeli model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2940" y="367588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548" y="363016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1"/>
                </a:solidFill>
              </a:rPr>
              <a:t>LSTM </a:t>
            </a:r>
            <a:r>
              <a:rPr lang="tr-TR" sz="1100" dirty="0" err="1">
                <a:solidFill>
                  <a:schemeClr val="bg1"/>
                </a:solidFill>
              </a:rPr>
              <a:t>Context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recall’ü</a:t>
            </a:r>
            <a:r>
              <a:rPr lang="tr-TR" sz="1100" dirty="0">
                <a:solidFill>
                  <a:schemeClr val="bg1"/>
                </a:solidFill>
              </a:rPr>
              <a:t> artırdı, ancak </a:t>
            </a:r>
            <a:r>
              <a:rPr lang="tr-TR" sz="1100" dirty="0" err="1">
                <a:solidFill>
                  <a:schemeClr val="bg1"/>
                </a:solidFill>
              </a:rPr>
              <a:t>false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positive</a:t>
            </a:r>
            <a:r>
              <a:rPr lang="tr-TR" sz="1100" dirty="0">
                <a:solidFill>
                  <a:schemeClr val="bg1"/>
                </a:solidFill>
              </a:rPr>
              <a:t> oranı yükseldi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2940" y="422452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" y="41788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1"/>
                </a:solidFill>
              </a:rPr>
              <a:t>Tüm modellerde AUC &gt; 0.99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20540" y="1389888"/>
            <a:ext cx="3520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1980" y="1389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Sınırlılıklar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5132" y="202996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7740" y="19842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</a:t>
            </a:r>
            <a:r>
              <a:rPr lang="tr-TR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genelleme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85132" y="257860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7740" y="253288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 err="1">
                <a:solidFill>
                  <a:schemeClr val="bg1"/>
                </a:solidFill>
              </a:rPr>
              <a:t>Threshold</a:t>
            </a:r>
            <a:r>
              <a:rPr lang="tr-TR" sz="1100" dirty="0">
                <a:solidFill>
                  <a:schemeClr val="bg1"/>
                </a:solidFill>
              </a:rPr>
              <a:t> </a:t>
            </a:r>
            <a:r>
              <a:rPr lang="tr-TR" sz="1100" dirty="0" err="1">
                <a:solidFill>
                  <a:schemeClr val="bg1"/>
                </a:solidFill>
              </a:rPr>
              <a:t>calibration</a:t>
            </a:r>
            <a:r>
              <a:rPr lang="tr-TR" sz="1100" dirty="0">
                <a:solidFill>
                  <a:schemeClr val="bg1"/>
                </a:solidFill>
              </a:rPr>
              <a:t>, </a:t>
            </a:r>
            <a:r>
              <a:rPr lang="tr-TR" sz="1100" dirty="0" err="1">
                <a:solidFill>
                  <a:schemeClr val="bg1"/>
                </a:solidFill>
              </a:rPr>
              <a:t>validation</a:t>
            </a:r>
            <a:r>
              <a:rPr lang="tr-TR" sz="1100" dirty="0">
                <a:solidFill>
                  <a:schemeClr val="bg1"/>
                </a:solidFill>
              </a:rPr>
              <a:t> setinin küçüklüğüne duyarlıydı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5132" y="31272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7740" y="30815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trace-level değerlendirme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42732" y="1389888"/>
            <a:ext cx="3520440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4172" y="13898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Çalışmalar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07324" y="2029968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9932" y="198424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LID-DS senaryolarında doğrulama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307324" y="2578608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9932" y="253288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streaming tespit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307324" y="3127248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9932" y="30815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1"/>
                </a:solidFill>
              </a:rPr>
              <a:t>Daha gelişmiş </a:t>
            </a:r>
            <a:r>
              <a:rPr lang="tr-TR" sz="1100" dirty="0" err="1">
                <a:solidFill>
                  <a:schemeClr val="bg1"/>
                </a:solidFill>
              </a:rPr>
              <a:t>context</a:t>
            </a:r>
            <a:r>
              <a:rPr lang="tr-TR" sz="1100" dirty="0">
                <a:solidFill>
                  <a:schemeClr val="bg1"/>
                </a:solidFill>
              </a:rPr>
              <a:t> temsilleri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307324" y="3675888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9932" y="363016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100" dirty="0">
                <a:solidFill>
                  <a:schemeClr val="bg1"/>
                </a:solidFill>
              </a:rPr>
              <a:t>Daha açıklanabilir ve </a:t>
            </a:r>
            <a:r>
              <a:rPr lang="tr-TR" sz="1100" dirty="0" err="1">
                <a:solidFill>
                  <a:schemeClr val="bg1"/>
                </a:solidFill>
              </a:rPr>
              <a:t>deploy</a:t>
            </a:r>
            <a:r>
              <a:rPr lang="tr-TR" sz="1100" dirty="0">
                <a:solidFill>
                  <a:schemeClr val="bg1"/>
                </a:solidFill>
              </a:rPr>
              <a:t> edilebilir sistem tasarımı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64EF60F9-9A92-0AB2-FFE8-556F4C7D93E8}"/>
              </a:ext>
            </a:extLst>
          </p:cNvPr>
          <p:cNvSpPr txBox="1"/>
          <p:nvPr/>
        </p:nvSpPr>
        <p:spPr>
          <a:xfrm>
            <a:off x="1121165" y="5168030"/>
            <a:ext cx="99191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</a:rPr>
              <a:t>Final Sonuç:</a:t>
            </a:r>
            <a:br>
              <a:rPr lang="tr-TR" sz="1600" dirty="0">
                <a:solidFill>
                  <a:schemeClr val="bg1"/>
                </a:solidFill>
              </a:rPr>
            </a:br>
            <a:r>
              <a:rPr lang="tr-TR" sz="1600" dirty="0">
                <a:solidFill>
                  <a:schemeClr val="bg1"/>
                </a:solidFill>
              </a:rPr>
              <a:t>Bu senaryoda, öğrenilmiş normal </a:t>
            </a:r>
            <a:r>
              <a:rPr lang="tr-TR" sz="1600" dirty="0" err="1">
                <a:solidFill>
                  <a:schemeClr val="bg1"/>
                </a:solidFill>
              </a:rPr>
              <a:t>syscall</a:t>
            </a:r>
            <a:r>
              <a:rPr lang="tr-TR" sz="1600" dirty="0">
                <a:solidFill>
                  <a:schemeClr val="bg1"/>
                </a:solidFill>
              </a:rPr>
              <a:t> örüntülerinden </a:t>
            </a:r>
            <a:r>
              <a:rPr lang="tr-TR" sz="1600" dirty="0" err="1">
                <a:solidFill>
                  <a:schemeClr val="bg1"/>
                </a:solidFill>
              </a:rPr>
              <a:t>anomalik</a:t>
            </a:r>
            <a:r>
              <a:rPr lang="tr-TR" sz="1600" dirty="0">
                <a:solidFill>
                  <a:schemeClr val="bg1"/>
                </a:solidFill>
              </a:rPr>
              <a:t> Linux </a:t>
            </a:r>
            <a:r>
              <a:rPr lang="tr-TR" sz="1600" dirty="0" err="1">
                <a:solidFill>
                  <a:schemeClr val="bg1"/>
                </a:solidFill>
              </a:rPr>
              <a:t>process</a:t>
            </a:r>
            <a:r>
              <a:rPr lang="tr-TR" sz="1600" dirty="0">
                <a:solidFill>
                  <a:schemeClr val="bg1"/>
                </a:solidFill>
              </a:rPr>
              <a:t> davranışı başarılı biçimde ayrıştırıldı. Ana model olarak, tespit gücü ile yanlış alarm kontrolü arasındaki dengesi nedeniyle LSTM </a:t>
            </a:r>
            <a:r>
              <a:rPr lang="tr-TR" sz="1600" dirty="0" err="1">
                <a:solidFill>
                  <a:schemeClr val="bg1"/>
                </a:solidFill>
              </a:rPr>
              <a:t>Syscall</a:t>
            </a:r>
            <a:r>
              <a:rPr lang="tr-TR" sz="1600" dirty="0">
                <a:solidFill>
                  <a:schemeClr val="bg1"/>
                </a:solidFill>
              </a:rPr>
              <a:t> seçildi. </a:t>
            </a:r>
            <a:r>
              <a:rPr lang="tr-TR" sz="1600" dirty="0" err="1">
                <a:solidFill>
                  <a:schemeClr val="bg1"/>
                </a:solidFill>
              </a:rPr>
              <a:t>STIDE’ın</a:t>
            </a:r>
            <a:r>
              <a:rPr lang="tr-TR" sz="1600" dirty="0">
                <a:solidFill>
                  <a:schemeClr val="bg1"/>
                </a:solidFill>
              </a:rPr>
              <a:t> eski bir yöntem olmasına rağmen güçlü bir </a:t>
            </a:r>
            <a:r>
              <a:rPr lang="tr-TR" sz="1600" dirty="0" err="1">
                <a:solidFill>
                  <a:schemeClr val="bg1"/>
                </a:solidFill>
              </a:rPr>
              <a:t>baseline</a:t>
            </a:r>
            <a:r>
              <a:rPr lang="tr-TR" sz="1600" dirty="0">
                <a:solidFill>
                  <a:schemeClr val="bg1"/>
                </a:solidFill>
              </a:rPr>
              <a:t> olduğu görüldü. </a:t>
            </a:r>
            <a:r>
              <a:rPr lang="tr-TR" sz="1600" dirty="0" err="1">
                <a:solidFill>
                  <a:schemeClr val="bg1"/>
                </a:solidFill>
              </a:rPr>
              <a:t>Recall</a:t>
            </a:r>
            <a:r>
              <a:rPr lang="tr-TR" sz="1600" dirty="0">
                <a:solidFill>
                  <a:schemeClr val="bg1"/>
                </a:solidFill>
              </a:rPr>
              <a:t> öncelikli kullanım senaryolarında ise LSTM </a:t>
            </a:r>
            <a:r>
              <a:rPr lang="tr-TR" sz="1600" dirty="0" err="1">
                <a:solidFill>
                  <a:schemeClr val="bg1"/>
                </a:solidFill>
              </a:rPr>
              <a:t>Context</a:t>
            </a:r>
            <a:r>
              <a:rPr lang="tr-TR" sz="1600" dirty="0">
                <a:solidFill>
                  <a:schemeClr val="bg1"/>
                </a:solidFill>
              </a:rPr>
              <a:t> modeli öne çıktı.</a:t>
            </a: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EB66DBFF-9A35-73BA-292F-6DD87054FAE0}"/>
              </a:ext>
            </a:extLst>
          </p:cNvPr>
          <p:cNvSpPr/>
          <p:nvPr/>
        </p:nvSpPr>
        <p:spPr>
          <a:xfrm>
            <a:off x="4485132" y="366545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B519702F-43AB-1EA8-A829-EF9DCAA91476}"/>
              </a:ext>
            </a:extLst>
          </p:cNvPr>
          <p:cNvSpPr/>
          <p:nvPr/>
        </p:nvSpPr>
        <p:spPr>
          <a:xfrm>
            <a:off x="4777740" y="361059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zaman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6093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194560" y="321868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3218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3858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trace yükleme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(.zip / .sc)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321868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3218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34840" y="3858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seçimi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STIDE / LSTM Syscall / LSTM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0" y="321868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3218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38587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Trace-level karar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şüpheli pencereler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FBE4C4B7-11A9-66A9-38EC-4899CD9FA044}"/>
              </a:ext>
            </a:extLst>
          </p:cNvPr>
          <p:cNvSpPr txBox="1"/>
          <p:nvPr/>
        </p:nvSpPr>
        <p:spPr>
          <a:xfrm>
            <a:off x="4393386" y="2659559"/>
            <a:ext cx="34052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4400" b="1" dirty="0"/>
              <a:t>TEŞEKKÜRLER</a:t>
            </a:r>
          </a:p>
        </p:txBody>
      </p:sp>
    </p:spTree>
    <p:extLst>
      <p:ext uri="{BB962C8B-B14F-4D97-AF65-F5344CB8AC3E}">
        <p14:creationId xmlns:p14="http://schemas.microsoft.com/office/powerpoint/2010/main" val="2869559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1013</Words>
  <Application>Microsoft Office PowerPoint</Application>
  <PresentationFormat>Geniş ekran</PresentationFormat>
  <Paragraphs>267</Paragraphs>
  <Slides>14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LSTM Tabanlı Anomali Tespiti</dc:title>
  <dc:subject>PptxGenJS Presentation</dc:subject>
  <dc:creator>Emirhan Müftüoğlu</dc:creator>
  <cp:lastModifiedBy>Emirhan MÜFTÜOĞLU</cp:lastModifiedBy>
  <cp:revision>96</cp:revision>
  <dcterms:created xsi:type="dcterms:W3CDTF">2026-05-15T11:47:38Z</dcterms:created>
  <dcterms:modified xsi:type="dcterms:W3CDTF">2026-05-15T22:54:42Z</dcterms:modified>
</cp:coreProperties>
</file>